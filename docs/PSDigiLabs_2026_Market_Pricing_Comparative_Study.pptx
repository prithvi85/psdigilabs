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PSDIGILABS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2A5FF"/>
                </a:solidFill>
                <a:latin typeface="Aptos"/>
              </a:rPr>
              <a:t>BUILD • TEST • AUTOMATE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89BFF"/>
                </a:solidFill>
                <a:latin typeface="Aptos"/>
              </a:rPr>
              <a:t>2026 INDIA &amp;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96012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600" b="1">
                <a:solidFill>
                  <a:srgbClr val="FFFFFF"/>
                </a:solidFill>
                <a:latin typeface="Aptos"/>
              </a:rPr>
              <a:t>Market Pricing
Comparative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8620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7E6"/>
                </a:solidFill>
                <a:latin typeface="Aptos"/>
              </a:rPr>
              <a:t>A practical benchmark of PSDigiLabs starting prices against indicative 2026 web-development market ranges in India, the United States, United Kingdom, Canada and Australia.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89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6AAC8"/>
                </a:solidFill>
                <a:latin typeface="Aptos"/>
              </a:rPr>
              <a:t>Prepared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96A5B9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96A5B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Competitive in India. Highly cost-efficient internationally.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176272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37744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779776"/>
            <a:ext cx="3063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900" b="1">
                <a:solidFill>
                  <a:srgbClr val="2457FF"/>
                </a:solidFill>
                <a:latin typeface="Aptos"/>
              </a:rPr>
              <a:t>LOW →
COMPETITIVE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584448"/>
            <a:ext cx="3063240" cy="832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Low-to-competitive versus indicative Indian ranges, with the strongest value gap in advanced platforms and custom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176272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37744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779776"/>
            <a:ext cx="3063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1F915B"/>
                </a:solidFill>
                <a:latin typeface="Aptos"/>
              </a:rPr>
              <a:t>HIGHLY COST-
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3584448"/>
            <a:ext cx="3063240" cy="832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526277"/>
                </a:solidFill>
                <a:latin typeface="Aptos"/>
              </a:rPr>
              <a:t>Published USD starting prices are substantially below typical professional-market budgets across the US, UK, Canada and Australia.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76272"/>
            <a:ext cx="3520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79776"/>
            <a:ext cx="3063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BE820C"/>
                </a:solidFill>
                <a:latin typeface="Aptos"/>
              </a:rPr>
              <a:t>VALUE, NOT
CHEAPNESS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84448"/>
            <a:ext cx="3063240" cy="832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526277"/>
                </a:solidFill>
                <a:latin typeface="Aptos"/>
              </a:rPr>
              <a:t>The commercial message should be value, modern engineering and lean delivery — not “cheap development.”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66944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1">
                <a:solidFill>
                  <a:srgbClr val="0C1930"/>
                </a:solidFill>
                <a:latin typeface="Aptos"/>
              </a:rPr>
              <a:t>Key implication: international pricing can be attractive for market entry, but scope, revisions, integrations and support boundaries must be explicit.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PUBLISHED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PSDigiLabs starting points used in this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26277"/>
                </a:solidFill>
                <a:latin typeface="Aptos"/>
              </a:rPr>
              <a:t>International prices are separate market starting points, not currency conversions.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40280"/>
          <a:ext cx="10607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926080"/>
                <a:gridCol w="3474720"/>
              </a:tblGrid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India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International (USD)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₹8,000+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₹18,000+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CMS Pro Website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₹30,000+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$749+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Advanced Business Platform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₹45,000+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$1,099+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E-commerce Website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₹40,000+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Custom Web Application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₹60,000+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Maintenance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₹3,000+/mo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$99+/mo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6480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8291A5"/>
                </a:solidFill>
                <a:latin typeface="Aptos"/>
              </a:rPr>
              <a:t>Source: PSDigiLabs pricing page / user-provided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INDIA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PSDigiLabs vs indicative 2026 Indian market ranges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48840"/>
          <a:ext cx="108356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926080"/>
                <a:gridCol w="2971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PSDigiLabs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Indicative India range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Position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₹8,000+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₹8k–₹30k+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At market floor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₹18,000+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₹25k–₹1L+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Below typical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C1930"/>
                          </a:solidFill>
                          <a:latin typeface="Aptos"/>
                        </a:rPr>
                        <a:t>CMS Pro Website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₹30,000+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₹35k–₹1L+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Below typical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C1930"/>
                          </a:solidFill>
                          <a:latin typeface="Aptos"/>
                        </a:rPr>
                        <a:t>Advanced Platform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₹45,000+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₹80k–₹2L+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Strong value gap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₹40,000+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₹40k–₹2L+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At market floor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₹60,000+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₹1L–₹10L+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0C1930"/>
                          </a:solidFill>
                          <a:latin typeface="Aptos"/>
                        </a:rPr>
                        <a:t>Strong value gap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Interpretation: India pricing is deliberately accessible for a growing portfolio, but advanced/custom work needs tight scope control to protect delivery economics.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6480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8291A5"/>
                </a:solidFill>
                <a:latin typeface="Aptos"/>
              </a:rPr>
              <a:t>India ranges: indicative planning benchmarks; scope varies materially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GLOBAL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The international value gap is much larger than the India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35000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UNITED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52344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2457FF"/>
                </a:solidFill>
                <a:latin typeface="Aptos"/>
              </a:rPr>
              <a:t>$3k–$10k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31012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Typical professional small-business custom website; e-commerce and apps rise sharply.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14884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35000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UNITED KINGDOM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52344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2457FF"/>
                </a:solidFill>
                <a:latin typeface="Aptos"/>
              </a:rPr>
              <a:t>£1.5k–£8k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31012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Typical professional business website; e-commerce often £4.5k–£15k.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2336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22452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CANADA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26864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2457FF"/>
                </a:solidFill>
                <a:latin typeface="Aptos"/>
              </a:rPr>
              <a:t>CA$5k–$10k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18464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Custom business site; e-commerce CA$8k–$15k and custom apps CA$15k+.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402336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422452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AUSTRALIA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626864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2457FF"/>
                </a:solidFill>
                <a:latin typeface="Aptos"/>
              </a:rPr>
              <a:t>A$5k–$15k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18464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Custom business site; e-commerce A$8k–$25k+.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646480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8291A5"/>
                </a:solidFill>
                <a:latin typeface="Aptos"/>
              </a:rPr>
              <a:t>Sources: Jafen Media; ICE WIND; WebLaunch; Loudachris (2026)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UNITED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PSDigiLabs USD pricing is far below common US professional budgets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3017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Project type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PSDigiLabs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Indicative US 2026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Reading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$500–$2,500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Very aggressive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$3,000–$10,000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Very aggressive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$5,000–$25,000+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Very aggressive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$15,000–$75,000+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Extremely aggressive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4924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1">
                <a:solidFill>
                  <a:srgbClr val="0C1930"/>
                </a:solidFill>
                <a:latin typeface="Aptos"/>
              </a:rPr>
              <a:t>For US buyers, the risk is not being “too expensive”; it is being priced so low that prospects may question scope or delivery depth. Clear deliverables and proof of work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6480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8291A5"/>
                </a:solidFill>
                <a:latin typeface="Aptos"/>
              </a:rPr>
              <a:t>Sources: Webfoundr; Jafen Media; Pinetrix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UNITED KINGDOM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A similar value gap appears against UK freelancer and agency ranges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3017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Project type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PSDigiLabs USD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Indicative UK 2026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Reading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£500–£3,500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£1,500–£8,000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£3,000–£25,000+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£8,000–£100,000+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Extremely aggressive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4924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1">
                <a:solidFill>
                  <a:srgbClr val="0C1930"/>
                </a:solidFill>
                <a:latin typeface="Aptos"/>
              </a:rPr>
              <a:t>Currency is intentionally not converted: PSDigiLabs publishes USD international starting prices, while the benchmark shows what UK customers commonly see in GBP.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6480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8291A5"/>
                </a:solidFill>
                <a:latin typeface="Aptos"/>
              </a:rPr>
              <a:t>Sources: ICE WIND; JW Digital; WebKatie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CANADA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Canadian professional builds typically start several multiples above PSDigiLabs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3017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Project type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PSDigiLabs USD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Indicative Canada 2026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Reading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CA$3,000–$5,000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CA$5,000–$10,000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CA$8,000–$15,000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CA$15,000–$50,000+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Extremely aggressive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4924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1">
                <a:solidFill>
                  <a:srgbClr val="0C1930"/>
                </a:solidFill>
                <a:latin typeface="Aptos"/>
              </a:rPr>
              <a:t>Canadian sources also commonly show maintenance around CA$100–$500/month, compared with PSDigiLabs at $99+/month.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6480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8291A5"/>
                </a:solidFill>
                <a:latin typeface="Aptos"/>
              </a:rPr>
              <a:t>Sources: WebLaunch; StillAwake Media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AUSTRALIA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PSDigiLabs remains strongly price-competitive against Australian market ranges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301752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Project type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PSDigiLabs USD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Indicative Australia 2026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Reading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A$5,000–$15,000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A$8,000–$25,000+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Highly competitive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A$20,000–$300,000+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Extremely aggressive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C1930"/>
                          </a:solidFill>
                          <a:latin typeface="Aptos"/>
                        </a:rPr>
                        <a:t>Maintenance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$99+/mo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A$100–$500/mo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C1930"/>
                          </a:solidFill>
                          <a:latin typeface="Aptos"/>
                        </a:rPr>
                        <a:t>Competitive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4924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1">
                <a:solidFill>
                  <a:srgbClr val="0C1930"/>
                </a:solidFill>
                <a:latin typeface="Aptos"/>
              </a:rPr>
              <a:t>Australian custom web-app ranges are especially wide because portals, SaaS products and enterprise systems vary enormously in complexity.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464808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8291A5"/>
                </a:solidFill>
                <a:latin typeface="Aptos"/>
              </a:rPr>
              <a:t>Sources: Loudachris; Digital Oort; IntraCode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WHERE THE VALUE GAP IS STRONGEST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Advanced platforms and custom applications create the clearest international differentiation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34747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Advanced Business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2457FF"/>
                </a:solidFill>
                <a:latin typeface="Aptos"/>
              </a:rPr>
              <a:t>$1,099+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47288"/>
            <a:ext cx="3017520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26277"/>
                </a:solidFill>
                <a:latin typeface="Aptos"/>
              </a:rPr>
              <a:t>CMS/admin, authentication, workflows, email integrations, analytics and business-process integrations.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34747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48716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Custom Web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889504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2457FF"/>
                </a:solidFill>
                <a:latin typeface="Aptos"/>
              </a:rPr>
              <a:t>$1,499+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447288"/>
            <a:ext cx="3017520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26277"/>
                </a:solidFill>
                <a:latin typeface="Aptos"/>
              </a:rPr>
              <a:t>Custom architecture, database/authentication, admin systems, user workflows, APIs, automation and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286000"/>
            <a:ext cx="34747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8716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E-commerce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89504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2457FF"/>
                </a:solidFill>
                <a:latin typeface="Aptos"/>
              </a:rPr>
              <a:t>$999+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47288"/>
            <a:ext cx="3017520" cy="1399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26277"/>
                </a:solidFill>
                <a:latin typeface="Aptos"/>
              </a:rPr>
              <a:t>Responsive storefront, catalogue, checkout, CMS, analytics and SEO foundations.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046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C1930"/>
                </a:solidFill>
                <a:latin typeface="Aptos"/>
              </a:rPr>
              <a:t>These prices are starting points. Complex integrations, migrations, bespoke UX, large catalogues, compliance or multi-role systems require separate scoping.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COMMERCIAL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Why lower international pricing can still be credible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429000" cy="1234440"/>
          </a:xfrm>
          <a:prstGeom prst="roundRect">
            <a:avLst/>
          </a:prstGeom>
          <a:solidFill>
            <a:srgbClr val="112646"/>
          </a:solidFill>
          <a:ln w="12700"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7744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LEAN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2491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D7E1EE"/>
                </a:solidFill>
                <a:latin typeface="Aptos"/>
              </a:rPr>
              <a:t>Direct communication and lower agency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194560"/>
            <a:ext cx="3429000" cy="1234440"/>
          </a:xfrm>
          <a:prstGeom prst="roundRect">
            <a:avLst/>
          </a:prstGeom>
          <a:solidFill>
            <a:srgbClr val="112646"/>
          </a:solidFill>
          <a:ln w="12700"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237744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INDIA-BASED COST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72491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D7E1EE"/>
                </a:solidFill>
                <a:latin typeface="Aptos"/>
              </a:rPr>
              <a:t>Different operating economics from Western markets.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94560"/>
            <a:ext cx="3429000" cy="1234440"/>
          </a:xfrm>
          <a:prstGeom prst="roundRect">
            <a:avLst/>
          </a:prstGeom>
          <a:solidFill>
            <a:srgbClr val="112646"/>
          </a:solidFill>
          <a:ln w="12700"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237744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MODERN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72491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D7E1EE"/>
                </a:solidFill>
                <a:latin typeface="Aptos"/>
              </a:rPr>
              <a:t>Next.js, React, TypeScript, PostgreSQL and deployment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3429000" cy="1234440"/>
          </a:xfrm>
          <a:prstGeom prst="roundRect">
            <a:avLst/>
          </a:prstGeom>
          <a:solidFill>
            <a:srgbClr val="112646"/>
          </a:solidFill>
          <a:ln w="12700"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97764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QUALITY BUILT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2511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D7E1EE"/>
                </a:solidFill>
                <a:latin typeface="Aptos"/>
              </a:rPr>
              <a:t>Testing and QA thinking integrated into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794760"/>
            <a:ext cx="3429000" cy="1234440"/>
          </a:xfrm>
          <a:prstGeom prst="roundRect">
            <a:avLst/>
          </a:prstGeom>
          <a:solidFill>
            <a:srgbClr val="112646"/>
          </a:solidFill>
          <a:ln w="12700"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397764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PORTFOLIO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432511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D7E1EE"/>
                </a:solidFill>
                <a:latin typeface="Aptos"/>
              </a:rPr>
              <a:t>Competitive entry pricing supports reference-building and market expansion.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794760"/>
            <a:ext cx="3429000" cy="1234440"/>
          </a:xfrm>
          <a:prstGeom prst="roundRect">
            <a:avLst/>
          </a:prstGeom>
          <a:solidFill>
            <a:srgbClr val="112646"/>
          </a:solidFill>
          <a:ln w="12700">
            <a:solidFill>
              <a:srgbClr val="264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397764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399FF"/>
                </a:solidFill>
                <a:latin typeface="Aptos"/>
              </a:rPr>
              <a:t>SCOPE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32511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D7E1EE"/>
                </a:solidFill>
                <a:latin typeface="Aptos"/>
              </a:rPr>
              <a:t>Starting prices work only when inclusions, revisions and integrations are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96A5B9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96A5B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Sell the outcome and delivery model — not the discount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57FF"/>
                </a:solidFill>
                <a:latin typeface="Aptos"/>
              </a:rPr>
              <a:t>Recommended customer-facing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42416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500" b="1">
                <a:solidFill>
                  <a:srgbClr val="0C1930"/>
                </a:solidFill>
                <a:latin typeface="Aptos"/>
              </a:rPr>
              <a:t>“International-quality digital product delivery with the cost efficiency of an India-based engineering partner.”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6052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6168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AVOID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1888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26277"/>
                </a:solidFill>
                <a:latin typeface="Aptos"/>
              </a:rPr>
              <a:t>“Cheap Indian development” or percentage-discount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16052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36168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EMPHASIZE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81888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26277"/>
                </a:solidFill>
                <a:latin typeface="Aptos"/>
              </a:rPr>
              <a:t>Clear scope, modern engineering, QA, deployment and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16052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36168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1888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26277"/>
                </a:solidFill>
                <a:latin typeface="Aptos"/>
              </a:rPr>
              <a:t>Live work, case studies, process, testimonials and transparent starting prices.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PRICING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Use current pricing as an entry strategy, then raise it with evidence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148840"/>
          <a:ext cx="1060703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017520"/>
                <a:gridCol w="3749039"/>
              </a:tblGrid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Current International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Potential next band*</a:t>
                      </a:r>
                    </a:p>
                  </a:txBody>
                  <a:tcPr marL="73152" marR="54864" marT="32004" marB="32004">
                    <a:solidFill>
                      <a:srgbClr val="0A1930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Landing Page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$199+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$299–$399+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Business Website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$449+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$599–$799+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CMS Pro Website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$749+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$999–$1,299+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Advanced Platform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$1,099+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$1,499–$1,999+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E-commerce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$999+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$1,499–$1,999+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Custom Web App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$1,499+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$2,499–$3,499+</a:t>
                      </a:r>
                    </a:p>
                  </a:txBody>
                  <a:tcPr marL="73152" marR="54864" marT="32004" marB="32004">
                    <a:solidFill>
                      <a:srgbClr val="F3F6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0C1930"/>
                          </a:solidFill>
                          <a:latin typeface="Aptos"/>
                        </a:rPr>
                        <a:t>Maintenance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$99+/mo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C1930"/>
                          </a:solidFill>
                          <a:latin typeface="Aptos"/>
                        </a:rPr>
                        <a:t>$99–$199+/mo</a:t>
                      </a:r>
                    </a:p>
                  </a:txBody>
                  <a:tcPr marL="73152" marR="54864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9788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526277"/>
                </a:solidFill>
                <a:latin typeface="Aptos"/>
              </a:rPr>
              <a:t>*Strategic recommendation, not a market quote. Consider after several strong paid international projects, testimonials and repeatable delivery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COMMERCIAL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Competitive starting prices need disciplined scoping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DEFINE THE BASE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52928"/>
            <a:ext cx="3017520" cy="347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Pages, roles, integrations, content, design rounds and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1945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23957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PRICE ADD-ONS SEPARATELY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852928"/>
            <a:ext cx="3017520" cy="347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Extra integrations, data migration, copywriting, advanced SEO, complex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21945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23957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LIMIT REVISION ROUNDS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2852928"/>
            <a:ext cx="3017520" cy="347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Prevent open-ended design and content cycles.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95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USE 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531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Deposit → design/architecture → build → UAT →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37947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3995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SEPARATE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4531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Clarify warranty/fix period versus ongoing maintenance.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37947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3995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0C1930"/>
                </a:solidFill>
                <a:latin typeface="Aptos"/>
              </a:rPr>
              <a:t>REPRICE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44531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26277"/>
                </a:solidFill>
                <a:latin typeface="Aptos"/>
              </a:rPr>
              <a:t>A “starting from” price is not a fixed quote for every project.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457FF"/>
                </a:solidFill>
                <a:latin typeface="Aptos"/>
              </a:rPr>
              <a:t>METHODOLOGY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930"/>
                </a:solidFill>
                <a:latin typeface="Aptos"/>
              </a:rPr>
              <a:t>Indicative planning ranges — not fixed industry tariffs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57FF"/>
                </a:solidFill>
                <a:latin typeface="Aptos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526277"/>
                </a:solidFill>
                <a:latin typeface="Aptos"/>
              </a:rPr>
              <a:t>PSDigiLabs published starting prices were compared with publicly published 2026 planning ranges from web-development providers and market guides. Categories are normalized only at a high level; actual scope, provider type, location, design depth, integrations, content, compliance and support can change quotes materially.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84448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0C1930"/>
                </a:solidFill>
                <a:latin typeface="Aptos"/>
              </a:rPr>
              <a:t>• USA — Jafen Media; Webfoundr; Pinetrix; GoodFirms (2026)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68496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0C1930"/>
                </a:solidFill>
                <a:latin typeface="Aptos"/>
              </a:rPr>
              <a:t>• UK — ICE WIND; JW Digital; WebKatie; Digital Otter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52544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0C1930"/>
                </a:solidFill>
                <a:latin typeface="Aptos"/>
              </a:rPr>
              <a:t>• Canada — WebLaunch; StillAwake Media; Software Development Ontario (2026)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36592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0C1930"/>
                </a:solidFill>
                <a:latin typeface="Aptos"/>
              </a:rPr>
              <a:t>• Australia — Loudachris; IntraCode; Digital Oort; Consulting Cadets (2026)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0C1930"/>
                </a:solidFill>
                <a:latin typeface="Aptos"/>
              </a:rPr>
              <a:t>• India — indicative market ranges used in the original PSDigiLabs 2026 India comparative study.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C1930"/>
                </a:solidFill>
                <a:latin typeface="Aptos"/>
              </a:rPr>
              <a:t>Important: This presentation is a comparative marketing/strategy study, not a promise that two projects with the same label have equivalent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8291A5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8291A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399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241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>
                <a:solidFill>
                  <a:srgbClr val="FFFFFF"/>
                </a:solidFill>
                <a:latin typeface="Aptos"/>
              </a:rPr>
              <a:t>Competitive in India.
Highly cost-efficient internationally.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2608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7E6"/>
                </a:solidFill>
                <a:latin typeface="Aptos"/>
              </a:rPr>
              <a:t>PSDigiLabs can use its current pricing as a market-entry advantage while protecting quality through clear scope, disciplined delivery and transparent add-on pricing.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0916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399FF"/>
                </a:solidFill>
                <a:latin typeface="Aptos"/>
              </a:rPr>
              <a:t>VALUE • ENGINEERING • QUALITY •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7607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www.psdigilabs.in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96A5B9"/>
                </a:solidFill>
                <a:latin typeface="Aptos"/>
              </a:rPr>
              <a:t>PSDigiLabs • 2026 Market Pricing Comparative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64808"/>
            <a:ext cx="228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1">
                <a:solidFill>
                  <a:srgbClr val="96A5B9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