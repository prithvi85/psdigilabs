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A1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PSDIGILABS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24128"/>
            <a:ext cx="3657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82A5FF"/>
                </a:solidFill>
                <a:latin typeface="Aptos"/>
              </a:rPr>
              <a:t>BUILD • TEST • AUTOMATE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74519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789BFF"/>
                </a:solidFill>
                <a:latin typeface="Aptos"/>
              </a:rPr>
              <a:t>2026 INDIA &amp; INTERNATIONAL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40280"/>
            <a:ext cx="96012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Aptos"/>
              </a:rPr>
              <a:t>Market Pricing
Comparative Study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3886200"/>
            <a:ext cx="97840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CDD7E6"/>
                </a:solidFill>
                <a:latin typeface="Aptos"/>
              </a:rPr>
              <a:t>A practical benchmark of PSDigiLabs starting prices against indicative 2026 web-development market ranges in India, the United States, United Kingdom, Canada and Australia.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598932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96AAC8"/>
                </a:solidFill>
                <a:latin typeface="Aptos"/>
              </a:rPr>
              <a:t>Prepared September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446520"/>
            <a:ext cx="5943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96A5B9"/>
                </a:solidFill>
                <a:latin typeface="Aptos"/>
              </a:rPr>
              <a:t>PSDigiLabs • 2026 Market Pricing Comparative Study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75720" y="6428232"/>
            <a:ext cx="228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96A5B9"/>
                </a:solidFill>
                <a:latin typeface="Apto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502920"/>
            <a:ext cx="5303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457FF"/>
                </a:solidFill>
                <a:latin typeface="Aptos"/>
              </a:rP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68680"/>
            <a:ext cx="10789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>
                <a:solidFill>
                  <a:srgbClr val="0C1930"/>
                </a:solidFill>
                <a:latin typeface="Aptos"/>
              </a:rPr>
              <a:t>Competitive in India. Highly cost-efficient internationally.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2331720"/>
            <a:ext cx="342900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" y="2532888"/>
            <a:ext cx="2971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C1930"/>
                </a:solidFill>
                <a:latin typeface="Aptos"/>
              </a:rPr>
              <a:t>INDIA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2926079"/>
            <a:ext cx="2971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2457FF"/>
                </a:solidFill>
                <a:latin typeface="Aptos"/>
              </a:rPr>
              <a:t>LOW → COMPETITIVE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3383279"/>
            <a:ext cx="297180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26277"/>
                </a:solidFill>
                <a:latin typeface="Aptos"/>
              </a:rPr>
              <a:t>Low-to-competitive versus indicative Indian ranges, with the strongest value gap in advanced platforms and custom applications.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0832" y="2331720"/>
            <a:ext cx="342900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99432" y="2532888"/>
            <a:ext cx="2971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C1930"/>
                </a:solidFill>
                <a:latin typeface="Aptos"/>
              </a:rPr>
              <a:t>INTERNATIONAL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9432" y="2926079"/>
            <a:ext cx="2971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F915B"/>
                </a:solidFill>
                <a:latin typeface="Aptos"/>
              </a:rPr>
              <a:t>HIGHLY COST-EFFICIENT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9432" y="3383279"/>
            <a:ext cx="297180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26277"/>
                </a:solidFill>
                <a:latin typeface="Aptos"/>
              </a:rPr>
              <a:t>Published USD starting prices are substantially below typical professional-market budgets across the US, UK, Canada and Australia.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83296" y="2331720"/>
            <a:ext cx="342900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11896" y="2532888"/>
            <a:ext cx="2971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C1930"/>
                </a:solidFill>
                <a:latin typeface="Aptos"/>
              </a:rPr>
              <a:t>POSITIONING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11896" y="2926079"/>
            <a:ext cx="2971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CD9114"/>
                </a:solidFill>
                <a:latin typeface="Aptos"/>
              </a:rPr>
              <a:t>VALUE, NOT CHEAPNESS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11896" y="3383279"/>
            <a:ext cx="297180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26277"/>
                </a:solidFill>
                <a:latin typeface="Aptos"/>
              </a:rPr>
              <a:t>The commercial message should be value, modern engineering and lean delivery — not “cheap development.”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166360"/>
            <a:ext cx="10515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C1930"/>
                </a:solidFill>
                <a:latin typeface="Aptos"/>
              </a:rPr>
              <a:t>Key implication: international pricing can be attractive for market entry, but scope, revisions, integrations and support boundaries must be explicit.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46520"/>
            <a:ext cx="5943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8291A5"/>
                </a:solidFill>
                <a:latin typeface="Aptos"/>
              </a:rPr>
              <a:t>PSDigiLabs • 2026 Market Pricing Comparative Study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75720" y="6428232"/>
            <a:ext cx="228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8291A5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502920"/>
            <a:ext cx="5303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457FF"/>
                </a:solidFill>
                <a:latin typeface="Aptos"/>
              </a:rPr>
              <a:t>PUBLISHED PRICING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68680"/>
            <a:ext cx="10789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>
                <a:solidFill>
                  <a:srgbClr val="0C1930"/>
                </a:solidFill>
                <a:latin typeface="Aptos"/>
              </a:rPr>
              <a:t>PSDigiLabs starting points used in this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691640"/>
            <a:ext cx="106984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26277"/>
                </a:solidFill>
                <a:latin typeface="Aptos"/>
              </a:rPr>
              <a:t>International prices are separate market starting points, not currency conversions.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77240" y="2331720"/>
          <a:ext cx="10607040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/>
                <a:gridCol w="2926080"/>
                <a:gridCol w="3474720"/>
              </a:tblGrid>
              <a:tr h="42291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Service</a:t>
                      </a:r>
                    </a:p>
                  </a:txBody>
                  <a:tcPr marL="73152" marR="54864" marT="36576" marB="36576">
                    <a:solidFill>
                      <a:srgbClr val="0A19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India</a:t>
                      </a:r>
                    </a:p>
                  </a:txBody>
                  <a:tcPr marL="73152" marR="54864" marT="36576" marB="36576">
                    <a:solidFill>
                      <a:srgbClr val="0A19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International (USD)</a:t>
                      </a:r>
                    </a:p>
                  </a:txBody>
                  <a:tcPr marL="73152" marR="54864" marT="36576" marB="36576">
                    <a:solidFill>
                      <a:srgbClr val="0A1930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C1930"/>
                          </a:solidFill>
                          <a:latin typeface="Aptos"/>
                        </a:rPr>
                        <a:t>Landing Page</a:t>
                      </a:r>
                    </a:p>
                  </a:txBody>
                  <a:tcPr marL="73152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C1930"/>
                          </a:solidFill>
                          <a:latin typeface="Aptos"/>
                        </a:rPr>
                        <a:t>₹8,000+</a:t>
                      </a:r>
                    </a:p>
                  </a:txBody>
                  <a:tcPr marL="73152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C1930"/>
                          </a:solidFill>
                          <a:latin typeface="Aptos"/>
                        </a:rPr>
                        <a:t>$199+</a:t>
                      </a:r>
                    </a:p>
                  </a:txBody>
                  <a:tcPr marL="73152" marR="54864" marT="36576" marB="36576">
                    <a:solidFill>
                      <a:srgbClr val="FFFFFF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C1930"/>
                          </a:solidFill>
                          <a:latin typeface="Aptos"/>
                        </a:rPr>
                        <a:t>Business Website</a:t>
                      </a:r>
                    </a:p>
                  </a:txBody>
                  <a:tcPr marL="73152" marR="54864" marT="36576" marB="36576"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C1930"/>
                          </a:solidFill>
                          <a:latin typeface="Aptos"/>
                        </a:rPr>
                        <a:t>₹18,000+</a:t>
                      </a:r>
                    </a:p>
                  </a:txBody>
                  <a:tcPr marL="73152" marR="54864" marT="36576" marB="36576"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C1930"/>
                          </a:solidFill>
                          <a:latin typeface="Aptos"/>
                        </a:rPr>
                        <a:t>$449+</a:t>
                      </a:r>
                    </a:p>
                  </a:txBody>
                  <a:tcPr marL="73152" marR="54864" marT="36576" marB="36576">
                    <a:solidFill>
                      <a:srgbClr val="F3F6FB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C1930"/>
                          </a:solidFill>
                          <a:latin typeface="Aptos"/>
                        </a:rPr>
                        <a:t>CMS Pro Website</a:t>
                      </a:r>
                    </a:p>
                  </a:txBody>
                  <a:tcPr marL="73152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C1930"/>
                          </a:solidFill>
                          <a:latin typeface="Aptos"/>
                        </a:rPr>
                        <a:t>₹30,000+</a:t>
                      </a:r>
                    </a:p>
                  </a:txBody>
                  <a:tcPr marL="73152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C1930"/>
                          </a:solidFill>
                          <a:latin typeface="Aptos"/>
                        </a:rPr>
                        <a:t>$749+</a:t>
                      </a:r>
                    </a:p>
                  </a:txBody>
                  <a:tcPr marL="73152" marR="54864" marT="36576" marB="36576">
                    <a:solidFill>
                      <a:srgbClr val="FFFFFF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C1930"/>
                          </a:solidFill>
                          <a:latin typeface="Aptos"/>
                        </a:rPr>
                        <a:t>Advanced Business Platform</a:t>
                      </a:r>
                    </a:p>
                  </a:txBody>
                  <a:tcPr marL="73152" marR="54864" marT="36576" marB="36576"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C1930"/>
                          </a:solidFill>
                          <a:latin typeface="Aptos"/>
                        </a:rPr>
                        <a:t>₹45,000+</a:t>
                      </a:r>
                    </a:p>
                  </a:txBody>
                  <a:tcPr marL="73152" marR="54864" marT="36576" marB="36576"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C1930"/>
                          </a:solidFill>
                          <a:latin typeface="Aptos"/>
                        </a:rPr>
                        <a:t>$1,099+</a:t>
                      </a:r>
                    </a:p>
                  </a:txBody>
                  <a:tcPr marL="73152" marR="54864" marT="36576" marB="36576">
                    <a:solidFill>
                      <a:srgbClr val="F3F6FB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C1930"/>
                          </a:solidFill>
                          <a:latin typeface="Aptos"/>
                        </a:rPr>
                        <a:t>E-commerce Website</a:t>
                      </a:r>
                    </a:p>
                  </a:txBody>
                  <a:tcPr marL="73152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C1930"/>
                          </a:solidFill>
                          <a:latin typeface="Aptos"/>
                        </a:rPr>
                        <a:t>₹40,000+</a:t>
                      </a:r>
                    </a:p>
                  </a:txBody>
                  <a:tcPr marL="73152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C1930"/>
                          </a:solidFill>
                          <a:latin typeface="Aptos"/>
                        </a:rPr>
                        <a:t>$999+</a:t>
                      </a:r>
                    </a:p>
                  </a:txBody>
                  <a:tcPr marL="73152" marR="54864" marT="36576" marB="36576">
                    <a:solidFill>
                      <a:srgbClr val="FFFFFF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C1930"/>
                          </a:solidFill>
                          <a:latin typeface="Aptos"/>
                        </a:rPr>
                        <a:t>Custom Web Application</a:t>
                      </a:r>
                    </a:p>
                  </a:txBody>
                  <a:tcPr marL="73152" marR="54864" marT="36576" marB="36576"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C1930"/>
                          </a:solidFill>
                          <a:latin typeface="Aptos"/>
                        </a:rPr>
                        <a:t>₹60,000+</a:t>
                      </a:r>
                    </a:p>
                  </a:txBody>
                  <a:tcPr marL="73152" marR="54864" marT="36576" marB="36576"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C1930"/>
                          </a:solidFill>
                          <a:latin typeface="Aptos"/>
                        </a:rPr>
                        <a:t>$1,499+</a:t>
                      </a:r>
                    </a:p>
                  </a:txBody>
                  <a:tcPr marL="73152" marR="54864" marT="36576" marB="36576">
                    <a:solidFill>
                      <a:srgbClr val="F3F6FB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C1930"/>
                          </a:solidFill>
                          <a:latin typeface="Aptos"/>
                        </a:rPr>
                        <a:t>Maintenance</a:t>
                      </a:r>
                    </a:p>
                  </a:txBody>
                  <a:tcPr marL="73152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C1930"/>
                          </a:solidFill>
                          <a:latin typeface="Aptos"/>
                        </a:rPr>
                        <a:t>₹3,000+/mo</a:t>
                      </a:r>
                    </a:p>
                  </a:txBody>
                  <a:tcPr marL="73152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C1930"/>
                          </a:solidFill>
                          <a:latin typeface="Aptos"/>
                        </a:rPr>
                        <a:t>$99+/mo</a:t>
                      </a:r>
                    </a:p>
                  </a:txBody>
                  <a:tcPr marL="73152" marR="54864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58368" y="6446520"/>
            <a:ext cx="5943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8291A5"/>
                </a:solidFill>
                <a:latin typeface="Aptos"/>
              </a:rPr>
              <a:t>PSDigiLabs • 2026 Market Pricing Comparative Study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60" y="6428232"/>
            <a:ext cx="6217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00" b="0">
                <a:solidFill>
                  <a:srgbClr val="8291A5"/>
                </a:solidFill>
                <a:latin typeface="Aptos"/>
              </a:rPr>
              <a:t>Source: PSDigiLabs pricing page / user-provided screenshot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28232"/>
            <a:ext cx="228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8291A5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502920"/>
            <a:ext cx="5303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457FF"/>
                </a:solidFill>
                <a:latin typeface="Aptos"/>
              </a:rPr>
              <a:t>INDIA BENCHMARK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68680"/>
            <a:ext cx="10789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>
                <a:solidFill>
                  <a:srgbClr val="0C1930"/>
                </a:solidFill>
                <a:latin typeface="Aptos"/>
              </a:rPr>
              <a:t>PSDigiLabs vs indicative 2026 Indian market ranges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2148840"/>
          <a:ext cx="10835640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2011680"/>
                <a:gridCol w="2926080"/>
                <a:gridCol w="2971800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Service</a:t>
                      </a:r>
                    </a:p>
                  </a:txBody>
                  <a:tcPr marL="73152" marR="54864" marT="36576" marB="36576">
                    <a:solidFill>
                      <a:srgbClr val="0A19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PSDigiLabs</a:t>
                      </a:r>
                    </a:p>
                  </a:txBody>
                  <a:tcPr marL="73152" marR="54864" marT="36576" marB="36576">
                    <a:solidFill>
                      <a:srgbClr val="0A19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Indicative India range</a:t>
                      </a:r>
                    </a:p>
                  </a:txBody>
                  <a:tcPr marL="73152" marR="54864" marT="36576" marB="36576">
                    <a:solidFill>
                      <a:srgbClr val="0A19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Position</a:t>
                      </a:r>
                    </a:p>
                  </a:txBody>
                  <a:tcPr marL="73152" marR="54864" marT="36576" marB="36576">
                    <a:solidFill>
                      <a:srgbClr val="0A193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C1930"/>
                          </a:solidFill>
                          <a:latin typeface="Aptos"/>
                        </a:rPr>
                        <a:t>Landing Page</a:t>
                      </a:r>
                    </a:p>
                  </a:txBody>
                  <a:tcPr marL="73152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C1930"/>
                          </a:solidFill>
                          <a:latin typeface="Aptos"/>
                        </a:rPr>
                        <a:t>₹8,000+</a:t>
                      </a:r>
                    </a:p>
                  </a:txBody>
                  <a:tcPr marL="73152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C1930"/>
                          </a:solidFill>
                          <a:latin typeface="Aptos"/>
                        </a:rPr>
                        <a:t>₹8k–₹30k+</a:t>
                      </a:r>
                    </a:p>
                  </a:txBody>
                  <a:tcPr marL="73152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C1930"/>
                          </a:solidFill>
                          <a:latin typeface="Aptos"/>
                        </a:rPr>
                        <a:t>At market floor</a:t>
                      </a:r>
                    </a:p>
                  </a:txBody>
                  <a:tcPr marL="73152" marR="54864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C1930"/>
                          </a:solidFill>
                          <a:latin typeface="Aptos"/>
                        </a:rPr>
                        <a:t>Business Website</a:t>
                      </a:r>
                    </a:p>
                  </a:txBody>
                  <a:tcPr marL="73152" marR="54864" marT="36576" marB="36576"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C1930"/>
                          </a:solidFill>
                          <a:latin typeface="Aptos"/>
                        </a:rPr>
                        <a:t>₹18,000+</a:t>
                      </a:r>
                    </a:p>
                  </a:txBody>
                  <a:tcPr marL="73152" marR="54864" marT="36576" marB="36576"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C1930"/>
                          </a:solidFill>
                          <a:latin typeface="Aptos"/>
                        </a:rPr>
                        <a:t>₹25k–₹1L+</a:t>
                      </a:r>
                    </a:p>
                  </a:txBody>
                  <a:tcPr marL="73152" marR="54864" marT="36576" marB="36576"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C1930"/>
                          </a:solidFill>
                          <a:latin typeface="Aptos"/>
                        </a:rPr>
                        <a:t>Below typical</a:t>
                      </a:r>
                    </a:p>
                  </a:txBody>
                  <a:tcPr marL="73152" marR="54864" marT="36576" marB="36576">
                    <a:solidFill>
                      <a:srgbClr val="F3F6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C1930"/>
                          </a:solidFill>
                          <a:latin typeface="Aptos"/>
                        </a:rPr>
                        <a:t>CMS Pro Website</a:t>
                      </a:r>
                    </a:p>
                  </a:txBody>
                  <a:tcPr marL="73152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C1930"/>
                          </a:solidFill>
                          <a:latin typeface="Aptos"/>
                        </a:rPr>
                        <a:t>₹30,000+</a:t>
                      </a:r>
                    </a:p>
                  </a:txBody>
                  <a:tcPr marL="73152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C1930"/>
                          </a:solidFill>
                          <a:latin typeface="Aptos"/>
                        </a:rPr>
                        <a:t>₹35k–₹1L+</a:t>
                      </a:r>
                    </a:p>
                  </a:txBody>
                  <a:tcPr marL="73152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C1930"/>
                          </a:solidFill>
                          <a:latin typeface="Aptos"/>
                        </a:rPr>
                        <a:t>Below typical</a:t>
                      </a:r>
                    </a:p>
                  </a:txBody>
                  <a:tcPr marL="73152" marR="54864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C1930"/>
                          </a:solidFill>
                          <a:latin typeface="Aptos"/>
                        </a:rPr>
                        <a:t>Advanced Platform</a:t>
                      </a:r>
                    </a:p>
                  </a:txBody>
                  <a:tcPr marL="73152" marR="54864" marT="36576" marB="36576"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C1930"/>
                          </a:solidFill>
                          <a:latin typeface="Aptos"/>
                        </a:rPr>
                        <a:t>₹45,000+</a:t>
                      </a:r>
                    </a:p>
                  </a:txBody>
                  <a:tcPr marL="73152" marR="54864" marT="36576" marB="36576"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C1930"/>
                          </a:solidFill>
                          <a:latin typeface="Aptos"/>
                        </a:rPr>
                        <a:t>₹80k–₹2L+</a:t>
                      </a:r>
                    </a:p>
                  </a:txBody>
                  <a:tcPr marL="73152" marR="54864" marT="36576" marB="36576"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C1930"/>
                          </a:solidFill>
                          <a:latin typeface="Aptos"/>
                        </a:rPr>
                        <a:t>Strong value gap</a:t>
                      </a:r>
                    </a:p>
                  </a:txBody>
                  <a:tcPr marL="73152" marR="54864" marT="36576" marB="36576">
                    <a:solidFill>
                      <a:srgbClr val="F3F6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C1930"/>
                          </a:solidFill>
                          <a:latin typeface="Aptos"/>
                        </a:rPr>
                        <a:t>E-commerce</a:t>
                      </a:r>
                    </a:p>
                  </a:txBody>
                  <a:tcPr marL="73152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C1930"/>
                          </a:solidFill>
                          <a:latin typeface="Aptos"/>
                        </a:rPr>
                        <a:t>₹40,000+</a:t>
                      </a:r>
                    </a:p>
                  </a:txBody>
                  <a:tcPr marL="73152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C1930"/>
                          </a:solidFill>
                          <a:latin typeface="Aptos"/>
                        </a:rPr>
                        <a:t>₹40k–₹2L+</a:t>
                      </a:r>
                    </a:p>
                  </a:txBody>
                  <a:tcPr marL="73152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C1930"/>
                          </a:solidFill>
                          <a:latin typeface="Aptos"/>
                        </a:rPr>
                        <a:t>At market floor</a:t>
                      </a:r>
                    </a:p>
                  </a:txBody>
                  <a:tcPr marL="73152" marR="54864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C1930"/>
                          </a:solidFill>
                          <a:latin typeface="Aptos"/>
                        </a:rPr>
                        <a:t>Custom Web App</a:t>
                      </a:r>
                    </a:p>
                  </a:txBody>
                  <a:tcPr marL="73152" marR="54864" marT="36576" marB="36576"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C1930"/>
                          </a:solidFill>
                          <a:latin typeface="Aptos"/>
                        </a:rPr>
                        <a:t>₹60,000+</a:t>
                      </a:r>
                    </a:p>
                  </a:txBody>
                  <a:tcPr marL="73152" marR="54864" marT="36576" marB="36576"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C1930"/>
                          </a:solidFill>
                          <a:latin typeface="Aptos"/>
                        </a:rPr>
                        <a:t>₹1L–₹10L+</a:t>
                      </a:r>
                    </a:p>
                  </a:txBody>
                  <a:tcPr marL="73152" marR="54864" marT="36576" marB="36576"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C1930"/>
                          </a:solidFill>
                          <a:latin typeface="Aptos"/>
                        </a:rPr>
                        <a:t>Strong value gap</a:t>
                      </a:r>
                    </a:p>
                  </a:txBody>
                  <a:tcPr marL="73152" marR="54864" marT="36576" marB="36576">
                    <a:solidFill>
                      <a:srgbClr val="F3F6FB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77240" y="5897880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C1930"/>
                </a:solidFill>
                <a:latin typeface="Aptos"/>
              </a:rPr>
              <a:t>Interpretation: India pricing is deliberately accessible for a growing portfolio, but advanced/custom work needs tight scope control to protect delivery economics.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446520"/>
            <a:ext cx="5943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8291A5"/>
                </a:solidFill>
                <a:latin typeface="Aptos"/>
              </a:rPr>
              <a:t>PSDigiLabs • 2026 Market Pricing Comparative Study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60" y="6428232"/>
            <a:ext cx="6217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00" b="0">
                <a:solidFill>
                  <a:srgbClr val="8291A5"/>
                </a:solidFill>
                <a:latin typeface="Aptos"/>
              </a:rPr>
              <a:t>India ranges: indicative planning benchmarks; scope varies materially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28232"/>
            <a:ext cx="228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8291A5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502920"/>
            <a:ext cx="5303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457FF"/>
                </a:solidFill>
                <a:latin typeface="Aptos"/>
              </a:rPr>
              <a:t>GLOBAL BENCHMARK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68680"/>
            <a:ext cx="10789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>
                <a:solidFill>
                  <a:srgbClr val="0C1930"/>
                </a:solidFill>
                <a:latin typeface="Aptos"/>
              </a:rPr>
              <a:t>The international value gap is much larger than the India gap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2148840"/>
            <a:ext cx="530352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" y="2350008"/>
            <a:ext cx="4846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C1930"/>
                </a:solidFill>
                <a:latin typeface="Aptos"/>
              </a:rPr>
              <a:t>UNITED STATES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2743200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2457FF"/>
                </a:solidFill>
                <a:latin typeface="Aptos"/>
              </a:rPr>
              <a:t>$3k–$10k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3200400"/>
            <a:ext cx="4846320" cy="3200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26277"/>
                </a:solidFill>
                <a:latin typeface="Aptos"/>
              </a:rPr>
              <a:t>Typical professional small-business custom website; e-commerce and apps rise sharply.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81928" y="2148840"/>
            <a:ext cx="530352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10528" y="2350008"/>
            <a:ext cx="4846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C1930"/>
                </a:solidFill>
                <a:latin typeface="Aptos"/>
              </a:rPr>
              <a:t>UNITED KINGDOM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10528" y="2743200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2457FF"/>
                </a:solidFill>
                <a:latin typeface="Aptos"/>
              </a:rPr>
              <a:t>£1.5k–£8k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0528" y="3200400"/>
            <a:ext cx="4846320" cy="3200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26277"/>
                </a:solidFill>
                <a:latin typeface="Aptos"/>
              </a:rPr>
              <a:t>Typical professional business website; e-commerce often £4.5k–£15k.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4023360"/>
            <a:ext cx="530352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4224528"/>
            <a:ext cx="4846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C1930"/>
                </a:solidFill>
                <a:latin typeface="Aptos"/>
              </a:rPr>
              <a:t>CANADA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617720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2457FF"/>
                </a:solidFill>
                <a:latin typeface="Aptos"/>
              </a:rPr>
              <a:t>CA$5k–$10k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" y="5074920"/>
            <a:ext cx="4846320" cy="3200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26277"/>
                </a:solidFill>
                <a:latin typeface="Aptos"/>
              </a:rPr>
              <a:t>Custom business site; e-commerce CA$8k–$15k and custom apps CA$15k+.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81928" y="4023360"/>
            <a:ext cx="530352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10528" y="4224528"/>
            <a:ext cx="4846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C1930"/>
                </a:solidFill>
                <a:latin typeface="Aptos"/>
              </a:rPr>
              <a:t>AUSTRALIA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10528" y="4617720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2457FF"/>
                </a:solidFill>
                <a:latin typeface="Aptos"/>
              </a:rPr>
              <a:t>A$5k–$15k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0528" y="5074920"/>
            <a:ext cx="4846320" cy="3200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26277"/>
                </a:solidFill>
                <a:latin typeface="Aptos"/>
              </a:rPr>
              <a:t>Custom business site; e-commerce A$8k–$25k+.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6446520"/>
            <a:ext cx="5943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8291A5"/>
                </a:solidFill>
                <a:latin typeface="Aptos"/>
              </a:rPr>
              <a:t>PSDigiLabs • 2026 Market Pricing Comparative Study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37760" y="6428232"/>
            <a:ext cx="6217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00" b="0">
                <a:solidFill>
                  <a:srgbClr val="8291A5"/>
                </a:solidFill>
                <a:latin typeface="Aptos"/>
              </a:rPr>
              <a:t>Sources: Jafen Media; ICE WIND; WebLaunch; Loudachris (2026)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75720" y="6428232"/>
            <a:ext cx="228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8291A5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502920"/>
            <a:ext cx="5303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457FF"/>
                </a:solidFill>
                <a:latin typeface="Aptos"/>
              </a:rPr>
              <a:t>UNITED STATES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68680"/>
            <a:ext cx="10789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>
                <a:solidFill>
                  <a:srgbClr val="0C1930"/>
                </a:solidFill>
                <a:latin typeface="Aptos"/>
              </a:rPr>
              <a:t>PSDigiLabs USD pricing is far below common US professional budgets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77240" y="2240280"/>
          <a:ext cx="10607040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1920240"/>
                <a:gridCol w="3017520"/>
                <a:gridCol w="2743200"/>
              </a:tblGrid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Project type</a:t>
                      </a:r>
                    </a:p>
                  </a:txBody>
                  <a:tcPr marL="73152" marR="54864" marT="36576" marB="36576">
                    <a:solidFill>
                      <a:srgbClr val="0A19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PSDigiLabs</a:t>
                      </a:r>
                    </a:p>
                  </a:txBody>
                  <a:tcPr marL="73152" marR="54864" marT="36576" marB="36576">
                    <a:solidFill>
                      <a:srgbClr val="0A19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Indicative US 2026</a:t>
                      </a:r>
                    </a:p>
                  </a:txBody>
                  <a:tcPr marL="73152" marR="54864" marT="36576" marB="36576">
                    <a:solidFill>
                      <a:srgbClr val="0A19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Reading</a:t>
                      </a:r>
                    </a:p>
                  </a:txBody>
                  <a:tcPr marL="73152" marR="54864" marT="36576" marB="36576">
                    <a:solidFill>
                      <a:srgbClr val="0A1930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C1930"/>
                          </a:solidFill>
                          <a:latin typeface="Aptos"/>
                        </a:rPr>
                        <a:t>Landing page</a:t>
                      </a:r>
                    </a:p>
                  </a:txBody>
                  <a:tcPr marL="73152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C1930"/>
                          </a:solidFill>
                          <a:latin typeface="Aptos"/>
                        </a:rPr>
                        <a:t>$199+</a:t>
                      </a:r>
                    </a:p>
                  </a:txBody>
                  <a:tcPr marL="73152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C1930"/>
                          </a:solidFill>
                          <a:latin typeface="Aptos"/>
                        </a:rPr>
                        <a:t>$500–$2,500</a:t>
                      </a:r>
                    </a:p>
                  </a:txBody>
                  <a:tcPr marL="73152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C1930"/>
                          </a:solidFill>
                          <a:latin typeface="Aptos"/>
                        </a:rPr>
                        <a:t>Very aggressive</a:t>
                      </a:r>
                    </a:p>
                  </a:txBody>
                  <a:tcPr marL="73152" marR="54864" marT="36576" marB="36576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C1930"/>
                          </a:solidFill>
                          <a:latin typeface="Aptos"/>
                        </a:rPr>
                        <a:t>Business website</a:t>
                      </a:r>
                    </a:p>
                  </a:txBody>
                  <a:tcPr marL="73152" marR="54864" marT="36576" marB="36576"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C1930"/>
                          </a:solidFill>
                          <a:latin typeface="Aptos"/>
                        </a:rPr>
                        <a:t>$449+</a:t>
                      </a:r>
                    </a:p>
                  </a:txBody>
                  <a:tcPr marL="73152" marR="54864" marT="36576" marB="36576"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C1930"/>
                          </a:solidFill>
                          <a:latin typeface="Aptos"/>
                        </a:rPr>
                        <a:t>$3,000–$10,000</a:t>
                      </a:r>
                    </a:p>
                  </a:txBody>
                  <a:tcPr marL="73152" marR="54864" marT="36576" marB="36576"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C1930"/>
                          </a:solidFill>
                          <a:latin typeface="Aptos"/>
                        </a:rPr>
                        <a:t>Very aggressive</a:t>
                      </a:r>
                    </a:p>
                  </a:txBody>
                  <a:tcPr marL="73152" marR="54864" marT="36576" marB="36576">
                    <a:solidFill>
                      <a:srgbClr val="F3F6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C1930"/>
                          </a:solidFill>
                          <a:latin typeface="Aptos"/>
                        </a:rPr>
                        <a:t>E-commerce</a:t>
                      </a:r>
                    </a:p>
                  </a:txBody>
                  <a:tcPr marL="73152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C1930"/>
                          </a:solidFill>
                          <a:latin typeface="Aptos"/>
                        </a:rPr>
                        <a:t>$999+</a:t>
                      </a:r>
                    </a:p>
                  </a:txBody>
                  <a:tcPr marL="73152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C1930"/>
                          </a:solidFill>
                          <a:latin typeface="Aptos"/>
                        </a:rPr>
                        <a:t>$5,000–$25,000+</a:t>
                      </a:r>
                    </a:p>
                  </a:txBody>
                  <a:tcPr marL="73152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C1930"/>
                          </a:solidFill>
                          <a:latin typeface="Aptos"/>
                        </a:rPr>
                        <a:t>Very aggressive</a:t>
                      </a:r>
                    </a:p>
                  </a:txBody>
                  <a:tcPr marL="73152" marR="54864" marT="36576" marB="36576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C1930"/>
                          </a:solidFill>
                          <a:latin typeface="Aptos"/>
                        </a:rPr>
                        <a:t>Custom web app</a:t>
                      </a:r>
                    </a:p>
                  </a:txBody>
                  <a:tcPr marL="73152" marR="54864" marT="36576" marB="36576"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C1930"/>
                          </a:solidFill>
                          <a:latin typeface="Aptos"/>
                        </a:rPr>
                        <a:t>$1,499+</a:t>
                      </a:r>
                    </a:p>
                  </a:txBody>
                  <a:tcPr marL="73152" marR="54864" marT="36576" marB="36576"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C1930"/>
                          </a:solidFill>
                          <a:latin typeface="Aptos"/>
                        </a:rPr>
                        <a:t>$15,000–$75,000+</a:t>
                      </a:r>
                    </a:p>
                  </a:txBody>
                  <a:tcPr marL="73152" marR="54864" marT="36576" marB="36576"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C1930"/>
                          </a:solidFill>
                          <a:latin typeface="Aptos"/>
                        </a:rPr>
                        <a:t>Extremely aggressive</a:t>
                      </a:r>
                    </a:p>
                  </a:txBody>
                  <a:tcPr marL="73152" marR="54864" marT="36576" marB="36576">
                    <a:solidFill>
                      <a:srgbClr val="F3F6FB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22960" y="5394960"/>
            <a:ext cx="104241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C1930"/>
                </a:solidFill>
                <a:latin typeface="Aptos"/>
              </a:rPr>
              <a:t>For US buyers, the risk is not being “too expensive”; it is being priced so low that prospects may question scope or delivery depth. Clear deliverables and proof of work matter.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446520"/>
            <a:ext cx="5943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8291A5"/>
                </a:solidFill>
                <a:latin typeface="Aptos"/>
              </a:rPr>
              <a:t>PSDigiLabs • 2026 Market Pricing Comparative Study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60" y="6428232"/>
            <a:ext cx="6217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00" b="0">
                <a:solidFill>
                  <a:srgbClr val="8291A5"/>
                </a:solidFill>
                <a:latin typeface="Aptos"/>
              </a:rPr>
              <a:t>Sources: Webfoundr; Jafen Media; Pinetrix (2026)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28232"/>
            <a:ext cx="228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8291A5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502920"/>
            <a:ext cx="5303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457FF"/>
                </a:solidFill>
                <a:latin typeface="Aptos"/>
              </a:rPr>
              <a:t>UNITED KINGDOM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68680"/>
            <a:ext cx="10789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>
                <a:solidFill>
                  <a:srgbClr val="0C1930"/>
                </a:solidFill>
                <a:latin typeface="Aptos"/>
              </a:rPr>
              <a:t>A similar value gap appears against UK freelancer and agency ranges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77240" y="2240280"/>
          <a:ext cx="10607040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1920240"/>
                <a:gridCol w="3017520"/>
                <a:gridCol w="2743200"/>
              </a:tblGrid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Project type</a:t>
                      </a:r>
                    </a:p>
                  </a:txBody>
                  <a:tcPr marL="73152" marR="54864" marT="36576" marB="36576">
                    <a:solidFill>
                      <a:srgbClr val="0A19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PSDigiLabs USD</a:t>
                      </a:r>
                    </a:p>
                  </a:txBody>
                  <a:tcPr marL="73152" marR="54864" marT="36576" marB="36576">
                    <a:solidFill>
                      <a:srgbClr val="0A19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Indicative UK 2026</a:t>
                      </a:r>
                    </a:p>
                  </a:txBody>
                  <a:tcPr marL="73152" marR="54864" marT="36576" marB="36576">
                    <a:solidFill>
                      <a:srgbClr val="0A19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Reading</a:t>
                      </a:r>
                    </a:p>
                  </a:txBody>
                  <a:tcPr marL="73152" marR="54864" marT="36576" marB="36576">
                    <a:solidFill>
                      <a:srgbClr val="0A1930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C1930"/>
                          </a:solidFill>
                          <a:latin typeface="Aptos"/>
                        </a:rPr>
                        <a:t>Landing page</a:t>
                      </a:r>
                    </a:p>
                  </a:txBody>
                  <a:tcPr marL="73152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C1930"/>
                          </a:solidFill>
                          <a:latin typeface="Aptos"/>
                        </a:rPr>
                        <a:t>$199+</a:t>
                      </a:r>
                    </a:p>
                  </a:txBody>
                  <a:tcPr marL="73152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C1930"/>
                          </a:solidFill>
                          <a:latin typeface="Aptos"/>
                        </a:rPr>
                        <a:t>£500–£3,500</a:t>
                      </a:r>
                    </a:p>
                  </a:txBody>
                  <a:tcPr marL="73152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C1930"/>
                          </a:solidFill>
                          <a:latin typeface="Aptos"/>
                        </a:rPr>
                        <a:t>Highly competitive</a:t>
                      </a:r>
                    </a:p>
                  </a:txBody>
                  <a:tcPr marL="73152" marR="54864" marT="36576" marB="36576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C1930"/>
                          </a:solidFill>
                          <a:latin typeface="Aptos"/>
                        </a:rPr>
                        <a:t>Business website</a:t>
                      </a:r>
                    </a:p>
                  </a:txBody>
                  <a:tcPr marL="73152" marR="54864" marT="36576" marB="36576"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C1930"/>
                          </a:solidFill>
                          <a:latin typeface="Aptos"/>
                        </a:rPr>
                        <a:t>$449+</a:t>
                      </a:r>
                    </a:p>
                  </a:txBody>
                  <a:tcPr marL="73152" marR="54864" marT="36576" marB="36576"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C1930"/>
                          </a:solidFill>
                          <a:latin typeface="Aptos"/>
                        </a:rPr>
                        <a:t>£1,500–£8,000</a:t>
                      </a:r>
                    </a:p>
                  </a:txBody>
                  <a:tcPr marL="73152" marR="54864" marT="36576" marB="36576"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C1930"/>
                          </a:solidFill>
                          <a:latin typeface="Aptos"/>
                        </a:rPr>
                        <a:t>Highly competitive</a:t>
                      </a:r>
                    </a:p>
                  </a:txBody>
                  <a:tcPr marL="73152" marR="54864" marT="36576" marB="36576">
                    <a:solidFill>
                      <a:srgbClr val="F3F6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C1930"/>
                          </a:solidFill>
                          <a:latin typeface="Aptos"/>
                        </a:rPr>
                        <a:t>E-commerce</a:t>
                      </a:r>
                    </a:p>
                  </a:txBody>
                  <a:tcPr marL="73152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C1930"/>
                          </a:solidFill>
                          <a:latin typeface="Aptos"/>
                        </a:rPr>
                        <a:t>$999+</a:t>
                      </a:r>
                    </a:p>
                  </a:txBody>
                  <a:tcPr marL="73152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C1930"/>
                          </a:solidFill>
                          <a:latin typeface="Aptos"/>
                        </a:rPr>
                        <a:t>£3,000–£25,000+</a:t>
                      </a:r>
                    </a:p>
                  </a:txBody>
                  <a:tcPr marL="73152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C1930"/>
                          </a:solidFill>
                          <a:latin typeface="Aptos"/>
                        </a:rPr>
                        <a:t>Highly competitive</a:t>
                      </a:r>
                    </a:p>
                  </a:txBody>
                  <a:tcPr marL="73152" marR="54864" marT="36576" marB="36576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C1930"/>
                          </a:solidFill>
                          <a:latin typeface="Aptos"/>
                        </a:rPr>
                        <a:t>Custom web app</a:t>
                      </a:r>
                    </a:p>
                  </a:txBody>
                  <a:tcPr marL="73152" marR="54864" marT="36576" marB="36576"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C1930"/>
                          </a:solidFill>
                          <a:latin typeface="Aptos"/>
                        </a:rPr>
                        <a:t>$1,499+</a:t>
                      </a:r>
                    </a:p>
                  </a:txBody>
                  <a:tcPr marL="73152" marR="54864" marT="36576" marB="36576"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C1930"/>
                          </a:solidFill>
                          <a:latin typeface="Aptos"/>
                        </a:rPr>
                        <a:t>£8,000–£100,000+</a:t>
                      </a:r>
                    </a:p>
                  </a:txBody>
                  <a:tcPr marL="73152" marR="54864" marT="36576" marB="36576"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C1930"/>
                          </a:solidFill>
                          <a:latin typeface="Aptos"/>
                        </a:rPr>
                        <a:t>Extremely aggressive</a:t>
                      </a:r>
                    </a:p>
                  </a:txBody>
                  <a:tcPr marL="73152" marR="54864" marT="36576" marB="36576">
                    <a:solidFill>
                      <a:srgbClr val="F3F6FB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22960" y="5394960"/>
            <a:ext cx="104241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C1930"/>
                </a:solidFill>
                <a:latin typeface="Aptos"/>
              </a:rPr>
              <a:t>Currency is intentionally not converted: PSDigiLabs publishes USD international starting prices, while the benchmark shows what UK customers commonly see in GBP.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446520"/>
            <a:ext cx="5943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8291A5"/>
                </a:solidFill>
                <a:latin typeface="Aptos"/>
              </a:rPr>
              <a:t>PSDigiLabs • 2026 Market Pricing Comparative Study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60" y="6428232"/>
            <a:ext cx="6217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00" b="0">
                <a:solidFill>
                  <a:srgbClr val="8291A5"/>
                </a:solidFill>
                <a:latin typeface="Aptos"/>
              </a:rPr>
              <a:t>Sources: ICE WIND; JW Digital; WebKatie (2026)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28232"/>
            <a:ext cx="228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8291A5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502920"/>
            <a:ext cx="5303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457FF"/>
                </a:solidFill>
                <a:latin typeface="Aptos"/>
              </a:rPr>
              <a:t>CANADA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68680"/>
            <a:ext cx="10789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>
                <a:solidFill>
                  <a:srgbClr val="0C1930"/>
                </a:solidFill>
                <a:latin typeface="Aptos"/>
              </a:rPr>
              <a:t>Canadian professional builds typically start several multiples above PSDigiLabs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77240" y="2240280"/>
          <a:ext cx="10607040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1920240"/>
                <a:gridCol w="3017520"/>
                <a:gridCol w="2743200"/>
              </a:tblGrid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Project type</a:t>
                      </a:r>
                    </a:p>
                  </a:txBody>
                  <a:tcPr marL="73152" marR="54864" marT="36576" marB="36576">
                    <a:solidFill>
                      <a:srgbClr val="0A19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PSDigiLabs USD</a:t>
                      </a:r>
                    </a:p>
                  </a:txBody>
                  <a:tcPr marL="73152" marR="54864" marT="36576" marB="36576">
                    <a:solidFill>
                      <a:srgbClr val="0A19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Indicative Canada 2026</a:t>
                      </a:r>
                    </a:p>
                  </a:txBody>
                  <a:tcPr marL="73152" marR="54864" marT="36576" marB="36576">
                    <a:solidFill>
                      <a:srgbClr val="0A19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Reading</a:t>
                      </a:r>
                    </a:p>
                  </a:txBody>
                  <a:tcPr marL="73152" marR="54864" marT="36576" marB="36576">
                    <a:solidFill>
                      <a:srgbClr val="0A1930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C1930"/>
                          </a:solidFill>
                          <a:latin typeface="Aptos"/>
                        </a:rPr>
                        <a:t>Landing page</a:t>
                      </a:r>
                    </a:p>
                  </a:txBody>
                  <a:tcPr marL="73152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C1930"/>
                          </a:solidFill>
                          <a:latin typeface="Aptos"/>
                        </a:rPr>
                        <a:t>$199+</a:t>
                      </a:r>
                    </a:p>
                  </a:txBody>
                  <a:tcPr marL="73152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C1930"/>
                          </a:solidFill>
                          <a:latin typeface="Aptos"/>
                        </a:rPr>
                        <a:t>CA$3,000–$5,000</a:t>
                      </a:r>
                    </a:p>
                  </a:txBody>
                  <a:tcPr marL="73152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C1930"/>
                          </a:solidFill>
                          <a:latin typeface="Aptos"/>
                        </a:rPr>
                        <a:t>Highly competitive</a:t>
                      </a:r>
                    </a:p>
                  </a:txBody>
                  <a:tcPr marL="73152" marR="54864" marT="36576" marB="36576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C1930"/>
                          </a:solidFill>
                          <a:latin typeface="Aptos"/>
                        </a:rPr>
                        <a:t>Business website</a:t>
                      </a:r>
                    </a:p>
                  </a:txBody>
                  <a:tcPr marL="73152" marR="54864" marT="36576" marB="36576"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C1930"/>
                          </a:solidFill>
                          <a:latin typeface="Aptos"/>
                        </a:rPr>
                        <a:t>$449+</a:t>
                      </a:r>
                    </a:p>
                  </a:txBody>
                  <a:tcPr marL="73152" marR="54864" marT="36576" marB="36576"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C1930"/>
                          </a:solidFill>
                          <a:latin typeface="Aptos"/>
                        </a:rPr>
                        <a:t>CA$5,000–$10,000</a:t>
                      </a:r>
                    </a:p>
                  </a:txBody>
                  <a:tcPr marL="73152" marR="54864" marT="36576" marB="36576"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C1930"/>
                          </a:solidFill>
                          <a:latin typeface="Aptos"/>
                        </a:rPr>
                        <a:t>Highly competitive</a:t>
                      </a:r>
                    </a:p>
                  </a:txBody>
                  <a:tcPr marL="73152" marR="54864" marT="36576" marB="36576">
                    <a:solidFill>
                      <a:srgbClr val="F3F6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C1930"/>
                          </a:solidFill>
                          <a:latin typeface="Aptos"/>
                        </a:rPr>
                        <a:t>E-commerce</a:t>
                      </a:r>
                    </a:p>
                  </a:txBody>
                  <a:tcPr marL="73152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C1930"/>
                          </a:solidFill>
                          <a:latin typeface="Aptos"/>
                        </a:rPr>
                        <a:t>$999+</a:t>
                      </a:r>
                    </a:p>
                  </a:txBody>
                  <a:tcPr marL="73152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C1930"/>
                          </a:solidFill>
                          <a:latin typeface="Aptos"/>
                        </a:rPr>
                        <a:t>CA$8,000–$15,000</a:t>
                      </a:r>
                    </a:p>
                  </a:txBody>
                  <a:tcPr marL="73152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C1930"/>
                          </a:solidFill>
                          <a:latin typeface="Aptos"/>
                        </a:rPr>
                        <a:t>Highly competitive</a:t>
                      </a:r>
                    </a:p>
                  </a:txBody>
                  <a:tcPr marL="73152" marR="54864" marT="36576" marB="36576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C1930"/>
                          </a:solidFill>
                          <a:latin typeface="Aptos"/>
                        </a:rPr>
                        <a:t>Custom web app</a:t>
                      </a:r>
                    </a:p>
                  </a:txBody>
                  <a:tcPr marL="73152" marR="54864" marT="36576" marB="36576"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C1930"/>
                          </a:solidFill>
                          <a:latin typeface="Aptos"/>
                        </a:rPr>
                        <a:t>$1,499+</a:t>
                      </a:r>
                    </a:p>
                  </a:txBody>
                  <a:tcPr marL="73152" marR="54864" marT="36576" marB="36576"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C1930"/>
                          </a:solidFill>
                          <a:latin typeface="Aptos"/>
                        </a:rPr>
                        <a:t>CA$15,000–$50,000+</a:t>
                      </a:r>
                    </a:p>
                  </a:txBody>
                  <a:tcPr marL="73152" marR="54864" marT="36576" marB="36576"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C1930"/>
                          </a:solidFill>
                          <a:latin typeface="Aptos"/>
                        </a:rPr>
                        <a:t>Extremely aggressive</a:t>
                      </a:r>
                    </a:p>
                  </a:txBody>
                  <a:tcPr marL="73152" marR="54864" marT="36576" marB="36576">
                    <a:solidFill>
                      <a:srgbClr val="F3F6FB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22960" y="5394960"/>
            <a:ext cx="104241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C1930"/>
                </a:solidFill>
                <a:latin typeface="Aptos"/>
              </a:rPr>
              <a:t>Canadian sources also commonly show maintenance around CA$100–$500/month, compared with PSDigiLabs at $99+/month.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446520"/>
            <a:ext cx="5943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8291A5"/>
                </a:solidFill>
                <a:latin typeface="Aptos"/>
              </a:rPr>
              <a:t>PSDigiLabs • 2026 Market Pricing Comparative Study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60" y="6428232"/>
            <a:ext cx="6217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00" b="0">
                <a:solidFill>
                  <a:srgbClr val="8291A5"/>
                </a:solidFill>
                <a:latin typeface="Aptos"/>
              </a:rPr>
              <a:t>Sources: WebLaunch; StillAwake Media (2026)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28232"/>
            <a:ext cx="228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8291A5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502920"/>
            <a:ext cx="5303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457FF"/>
                </a:solidFill>
                <a:latin typeface="Aptos"/>
              </a:rPr>
              <a:t>AUSTRALIA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68680"/>
            <a:ext cx="10789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>
                <a:solidFill>
                  <a:srgbClr val="0C1930"/>
                </a:solidFill>
                <a:latin typeface="Aptos"/>
              </a:rPr>
              <a:t>PSDigiLabs remains strongly price-competitive against Australian market ranges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77240" y="2240280"/>
          <a:ext cx="10607040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1920240"/>
                <a:gridCol w="3017520"/>
                <a:gridCol w="2743200"/>
              </a:tblGrid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Project type</a:t>
                      </a:r>
                    </a:p>
                  </a:txBody>
                  <a:tcPr marL="73152" marR="54864" marT="36576" marB="36576">
                    <a:solidFill>
                      <a:srgbClr val="0A19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PSDigiLabs USD</a:t>
                      </a:r>
                    </a:p>
                  </a:txBody>
                  <a:tcPr marL="73152" marR="54864" marT="36576" marB="36576">
                    <a:solidFill>
                      <a:srgbClr val="0A19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Indicative Australia 2026</a:t>
                      </a:r>
                    </a:p>
                  </a:txBody>
                  <a:tcPr marL="73152" marR="54864" marT="36576" marB="36576">
                    <a:solidFill>
                      <a:srgbClr val="0A19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Reading</a:t>
                      </a:r>
                    </a:p>
                  </a:txBody>
                  <a:tcPr marL="73152" marR="54864" marT="36576" marB="36576">
                    <a:solidFill>
                      <a:srgbClr val="0A1930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C1930"/>
                          </a:solidFill>
                          <a:latin typeface="Aptos"/>
                        </a:rPr>
                        <a:t>Business website</a:t>
                      </a:r>
                    </a:p>
                  </a:txBody>
                  <a:tcPr marL="73152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C1930"/>
                          </a:solidFill>
                          <a:latin typeface="Aptos"/>
                        </a:rPr>
                        <a:t>$449+</a:t>
                      </a:r>
                    </a:p>
                  </a:txBody>
                  <a:tcPr marL="73152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C1930"/>
                          </a:solidFill>
                          <a:latin typeface="Aptos"/>
                        </a:rPr>
                        <a:t>A$5,000–$15,000</a:t>
                      </a:r>
                    </a:p>
                  </a:txBody>
                  <a:tcPr marL="73152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C1930"/>
                          </a:solidFill>
                          <a:latin typeface="Aptos"/>
                        </a:rPr>
                        <a:t>Highly competitive</a:t>
                      </a:r>
                    </a:p>
                  </a:txBody>
                  <a:tcPr marL="73152" marR="54864" marT="36576" marB="36576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C1930"/>
                          </a:solidFill>
                          <a:latin typeface="Aptos"/>
                        </a:rPr>
                        <a:t>E-commerce</a:t>
                      </a:r>
                    </a:p>
                  </a:txBody>
                  <a:tcPr marL="73152" marR="54864" marT="36576" marB="36576"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C1930"/>
                          </a:solidFill>
                          <a:latin typeface="Aptos"/>
                        </a:rPr>
                        <a:t>$999+</a:t>
                      </a:r>
                    </a:p>
                  </a:txBody>
                  <a:tcPr marL="73152" marR="54864" marT="36576" marB="36576"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C1930"/>
                          </a:solidFill>
                          <a:latin typeface="Aptos"/>
                        </a:rPr>
                        <a:t>A$8,000–$25,000+</a:t>
                      </a:r>
                    </a:p>
                  </a:txBody>
                  <a:tcPr marL="73152" marR="54864" marT="36576" marB="36576"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C1930"/>
                          </a:solidFill>
                          <a:latin typeface="Aptos"/>
                        </a:rPr>
                        <a:t>Highly competitive</a:t>
                      </a:r>
                    </a:p>
                  </a:txBody>
                  <a:tcPr marL="73152" marR="54864" marT="36576" marB="36576">
                    <a:solidFill>
                      <a:srgbClr val="F3F6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C1930"/>
                          </a:solidFill>
                          <a:latin typeface="Aptos"/>
                        </a:rPr>
                        <a:t>Custom web app</a:t>
                      </a:r>
                    </a:p>
                  </a:txBody>
                  <a:tcPr marL="73152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C1930"/>
                          </a:solidFill>
                          <a:latin typeface="Aptos"/>
                        </a:rPr>
                        <a:t>$1,499+</a:t>
                      </a:r>
                    </a:p>
                  </a:txBody>
                  <a:tcPr marL="73152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C1930"/>
                          </a:solidFill>
                          <a:latin typeface="Aptos"/>
                        </a:rPr>
                        <a:t>A$20,000–$300,000+</a:t>
                      </a:r>
                    </a:p>
                  </a:txBody>
                  <a:tcPr marL="73152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C1930"/>
                          </a:solidFill>
                          <a:latin typeface="Aptos"/>
                        </a:rPr>
                        <a:t>Extremely aggressive</a:t>
                      </a:r>
                    </a:p>
                  </a:txBody>
                  <a:tcPr marL="73152" marR="54864" marT="36576" marB="36576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C1930"/>
                          </a:solidFill>
                          <a:latin typeface="Aptos"/>
                        </a:rPr>
                        <a:t>Maintenance</a:t>
                      </a:r>
                    </a:p>
                  </a:txBody>
                  <a:tcPr marL="73152" marR="54864" marT="36576" marB="36576"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C1930"/>
                          </a:solidFill>
                          <a:latin typeface="Aptos"/>
                        </a:rPr>
                        <a:t>$99+/mo</a:t>
                      </a:r>
                    </a:p>
                  </a:txBody>
                  <a:tcPr marL="73152" marR="54864" marT="36576" marB="36576"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C1930"/>
                          </a:solidFill>
                          <a:latin typeface="Aptos"/>
                        </a:rPr>
                        <a:t>A$100–$500/mo</a:t>
                      </a:r>
                    </a:p>
                  </a:txBody>
                  <a:tcPr marL="73152" marR="54864" marT="36576" marB="36576"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C1930"/>
                          </a:solidFill>
                          <a:latin typeface="Aptos"/>
                        </a:rPr>
                        <a:t>Competitive</a:t>
                      </a:r>
                    </a:p>
                  </a:txBody>
                  <a:tcPr marL="73152" marR="54864" marT="36576" marB="36576">
                    <a:solidFill>
                      <a:srgbClr val="F3F6FB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22960" y="5394960"/>
            <a:ext cx="104241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C1930"/>
                </a:solidFill>
                <a:latin typeface="Aptos"/>
              </a:rPr>
              <a:t>Australian custom web-app ranges are especially wide because portals, SaaS products and enterprise systems vary enormously in complexity.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446520"/>
            <a:ext cx="5943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8291A5"/>
                </a:solidFill>
                <a:latin typeface="Aptos"/>
              </a:rPr>
              <a:t>PSDigiLabs • 2026 Market Pricing Comparative Study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60" y="6428232"/>
            <a:ext cx="6217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00" b="0">
                <a:solidFill>
                  <a:srgbClr val="8291A5"/>
                </a:solidFill>
                <a:latin typeface="Aptos"/>
              </a:rPr>
              <a:t>Sources: Loudachris; Digital Oort; IntraCode (2026)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28232"/>
            <a:ext cx="228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8291A5"/>
                </a:solidFill>
                <a:latin typeface="Apto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502920"/>
            <a:ext cx="5303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457FF"/>
                </a:solidFill>
                <a:latin typeface="Aptos"/>
              </a:rPr>
              <a:t>WHERE THE VALUE GAP IS STRONGEST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68680"/>
            <a:ext cx="10789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>
                <a:solidFill>
                  <a:srgbClr val="0C1930"/>
                </a:solidFill>
                <a:latin typeface="Aptos"/>
              </a:rPr>
              <a:t>Advanced platforms and custom applications create the clearest international differentiation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331720"/>
            <a:ext cx="3474720" cy="2880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532888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C1930"/>
                </a:solidFill>
                <a:latin typeface="Aptos"/>
              </a:rPr>
              <a:t>Advanced Business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926079"/>
            <a:ext cx="3017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2457FF"/>
                </a:solidFill>
                <a:latin typeface="Aptos"/>
              </a:rPr>
              <a:t>$1,099+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383279"/>
            <a:ext cx="3017520" cy="16459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26277"/>
                </a:solidFill>
                <a:latin typeface="Aptos"/>
              </a:rPr>
              <a:t>CMS/admin, authentication, workflows, email integrations, analytics and business-process integrations.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2331720"/>
            <a:ext cx="3474720" cy="2880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09160" y="2532888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C1930"/>
                </a:solidFill>
                <a:latin typeface="Aptos"/>
              </a:rPr>
              <a:t>Custom Web Application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2926079"/>
            <a:ext cx="3017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2457FF"/>
                </a:solidFill>
                <a:latin typeface="Aptos"/>
              </a:rPr>
              <a:t>$1,499+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60" y="3383279"/>
            <a:ext cx="3017520" cy="16459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26277"/>
                </a:solidFill>
                <a:latin typeface="Aptos"/>
              </a:rPr>
              <a:t>Custom architecture, database/authentication, admin systems, user workflows, APIs, automation and dashboards.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75320" y="2331720"/>
            <a:ext cx="3474720" cy="2880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20" y="2532888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C1930"/>
                </a:solidFill>
                <a:latin typeface="Aptos"/>
              </a:rPr>
              <a:t>E-commerce Website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2926079"/>
            <a:ext cx="3017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2457FF"/>
                </a:solidFill>
                <a:latin typeface="Aptos"/>
              </a:rPr>
              <a:t>$999+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3383279"/>
            <a:ext cx="3017520" cy="16459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26277"/>
                </a:solidFill>
                <a:latin typeface="Aptos"/>
              </a:rPr>
              <a:t>Responsive storefront, catalogue, checkout, CMS, analytics and SEO foundations.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532120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C1930"/>
                </a:solidFill>
                <a:latin typeface="Aptos"/>
              </a:rPr>
              <a:t>These prices are starting points. Complex integrations, migrations, bespoke UX, large catalogues, compliance or multi-role systems require separate scoping.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46520"/>
            <a:ext cx="5943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8291A5"/>
                </a:solidFill>
                <a:latin typeface="Aptos"/>
              </a:rPr>
              <a:t>PSDigiLabs • 2026 Market Pricing Comparative Study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75720" y="6428232"/>
            <a:ext cx="228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8291A5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A1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502920"/>
            <a:ext cx="5303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7399FF"/>
                </a:solidFill>
                <a:latin typeface="Aptos"/>
              </a:rPr>
              <a:t>COMMERCIAL RATIONALE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68680"/>
            <a:ext cx="10789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>
                <a:solidFill>
                  <a:srgbClr val="FFFFFF"/>
                </a:solidFill>
                <a:latin typeface="Aptos"/>
              </a:rPr>
              <a:t>Why lower international pricing can still be credible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240280"/>
            <a:ext cx="3429000" cy="1234440"/>
          </a:xfrm>
          <a:prstGeom prst="roundRect">
            <a:avLst/>
          </a:prstGeom>
          <a:solidFill>
            <a:srgbClr val="112646"/>
          </a:solidFill>
          <a:ln>
            <a:solidFill>
              <a:srgbClr val="2643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2423160"/>
            <a:ext cx="3017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7399FF"/>
                </a:solidFill>
                <a:latin typeface="Aptos"/>
              </a:rPr>
              <a:t>LEAN DELIVERY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2770632"/>
            <a:ext cx="2971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D7E1EE"/>
                </a:solidFill>
                <a:latin typeface="Aptos"/>
              </a:rPr>
              <a:t>Direct communication and lower agency overhead.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26280" y="2240280"/>
            <a:ext cx="3429000" cy="1234440"/>
          </a:xfrm>
          <a:prstGeom prst="roundRect">
            <a:avLst/>
          </a:prstGeom>
          <a:solidFill>
            <a:srgbClr val="112646"/>
          </a:solidFill>
          <a:ln>
            <a:solidFill>
              <a:srgbClr val="2643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27448" y="2423160"/>
            <a:ext cx="3017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7399FF"/>
                </a:solidFill>
                <a:latin typeface="Aptos"/>
              </a:rPr>
              <a:t>INDIA-BASED COST STRUCTURE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27448" y="2770632"/>
            <a:ext cx="2971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D7E1EE"/>
                </a:solidFill>
                <a:latin typeface="Aptos"/>
              </a:rPr>
              <a:t>Different operating economics from Western markets.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2240280"/>
            <a:ext cx="3429000" cy="1234440"/>
          </a:xfrm>
          <a:prstGeom prst="roundRect">
            <a:avLst/>
          </a:prstGeom>
          <a:solidFill>
            <a:srgbClr val="112646"/>
          </a:solidFill>
          <a:ln>
            <a:solidFill>
              <a:srgbClr val="2643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22208" y="2423160"/>
            <a:ext cx="3017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7399FF"/>
                </a:solidFill>
                <a:latin typeface="Aptos"/>
              </a:rPr>
              <a:t>MODERN STACK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22208" y="2770632"/>
            <a:ext cx="2971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D7E1EE"/>
                </a:solidFill>
                <a:latin typeface="Aptos"/>
              </a:rPr>
              <a:t>Next.js, React, TypeScript, PostgreSQL and deployment workflows.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840480"/>
            <a:ext cx="3429000" cy="1234440"/>
          </a:xfrm>
          <a:prstGeom prst="roundRect">
            <a:avLst/>
          </a:prstGeom>
          <a:solidFill>
            <a:srgbClr val="112646"/>
          </a:solidFill>
          <a:ln>
            <a:solidFill>
              <a:srgbClr val="2643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4023360"/>
            <a:ext cx="3017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7399FF"/>
                </a:solidFill>
                <a:latin typeface="Aptos"/>
              </a:rPr>
              <a:t>QUALITY BUILT 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4370832"/>
            <a:ext cx="2971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D7E1EE"/>
                </a:solidFill>
                <a:latin typeface="Aptos"/>
              </a:rPr>
              <a:t>Testing and QA thinking integrated into delivery.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26280" y="3840480"/>
            <a:ext cx="3429000" cy="1234440"/>
          </a:xfrm>
          <a:prstGeom prst="roundRect">
            <a:avLst/>
          </a:prstGeom>
          <a:solidFill>
            <a:srgbClr val="112646"/>
          </a:solidFill>
          <a:ln>
            <a:solidFill>
              <a:srgbClr val="2643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27448" y="4023360"/>
            <a:ext cx="3017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7399FF"/>
                </a:solidFill>
                <a:latin typeface="Aptos"/>
              </a:rPr>
              <a:t>PORTFOLIO GROWTH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27448" y="4370832"/>
            <a:ext cx="2971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D7E1EE"/>
                </a:solidFill>
                <a:latin typeface="Aptos"/>
              </a:rPr>
              <a:t>Competitive entry pricing supports reference-building and market expansion.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321040" y="3840480"/>
            <a:ext cx="3429000" cy="1234440"/>
          </a:xfrm>
          <a:prstGeom prst="roundRect">
            <a:avLst/>
          </a:prstGeom>
          <a:solidFill>
            <a:srgbClr val="112646"/>
          </a:solidFill>
          <a:ln>
            <a:solidFill>
              <a:srgbClr val="2643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22208" y="4023360"/>
            <a:ext cx="3017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7399FF"/>
                </a:solidFill>
                <a:latin typeface="Aptos"/>
              </a:rPr>
              <a:t>SCOPE DISCIPLINE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22208" y="4370832"/>
            <a:ext cx="2971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D7E1EE"/>
                </a:solidFill>
                <a:latin typeface="Aptos"/>
              </a:rPr>
              <a:t>Starting prices work only when inclusions, revisions and integrations are controlled.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6446520"/>
            <a:ext cx="5943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96A5B9"/>
                </a:solidFill>
                <a:latin typeface="Aptos"/>
              </a:rPr>
              <a:t>PSDigiLabs • 2026 Market Pricing Comparative Study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75720" y="6428232"/>
            <a:ext cx="228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96A5B9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502920"/>
            <a:ext cx="5303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457FF"/>
                </a:solidFill>
                <a:latin typeface="Aptos"/>
              </a:rPr>
              <a:t>POSITIONING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68680"/>
            <a:ext cx="10789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>
                <a:solidFill>
                  <a:srgbClr val="0C1930"/>
                </a:solidFill>
                <a:latin typeface="Aptos"/>
              </a:rPr>
              <a:t>Sell the outcome and delivery model — not the discount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4028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457FF"/>
                </a:solidFill>
                <a:latin typeface="Aptos"/>
              </a:rPr>
              <a:t>Recommended customer-facing message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697480"/>
            <a:ext cx="1042416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C1930"/>
                </a:solidFill>
                <a:latin typeface="Aptos"/>
              </a:rPr>
              <a:t>“International-quality digital product delivery with the cost efficiency of an India-based engineering partner.”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4251960"/>
            <a:ext cx="329184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4453128"/>
            <a:ext cx="2834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C1930"/>
                </a:solidFill>
                <a:latin typeface="Aptos"/>
              </a:rPr>
              <a:t>AVOID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910328"/>
            <a:ext cx="2834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26277"/>
                </a:solidFill>
                <a:latin typeface="Aptos"/>
              </a:rPr>
              <a:t>“Cheap Indian development” or percentage-discount claims.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4251960"/>
            <a:ext cx="329184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4453128"/>
            <a:ext cx="2834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C1930"/>
                </a:solidFill>
                <a:latin typeface="Aptos"/>
              </a:rPr>
              <a:t>EMPHASIZE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4910328"/>
            <a:ext cx="2834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26277"/>
                </a:solidFill>
                <a:latin typeface="Aptos"/>
              </a:rPr>
              <a:t>Clear scope, modern engineering, QA, deployment and support.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4251960"/>
            <a:ext cx="329184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4453128"/>
            <a:ext cx="2834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C1930"/>
                </a:solidFill>
                <a:latin typeface="Aptos"/>
              </a:rPr>
              <a:t>PROVE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4910328"/>
            <a:ext cx="2834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26277"/>
                </a:solidFill>
                <a:latin typeface="Aptos"/>
              </a:rPr>
              <a:t>Live work, case studies, process, testimonials and transparent starting prices.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6446520"/>
            <a:ext cx="5943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8291A5"/>
                </a:solidFill>
                <a:latin typeface="Aptos"/>
              </a:rPr>
              <a:t>PSDigiLabs • 2026 Market Pricing Comparative Study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75720" y="6428232"/>
            <a:ext cx="228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8291A5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502920"/>
            <a:ext cx="5303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457FF"/>
                </a:solidFill>
                <a:latin typeface="Aptos"/>
              </a:rPr>
              <a:t>PRICING PATH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68680"/>
            <a:ext cx="10789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>
                <a:solidFill>
                  <a:srgbClr val="0C1930"/>
                </a:solidFill>
                <a:latin typeface="Aptos"/>
              </a:rPr>
              <a:t>Use current pricing as an entry strategy, then raise it with evidence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77240" y="2148840"/>
          <a:ext cx="10607039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/>
                <a:gridCol w="3017520"/>
                <a:gridCol w="3749039"/>
              </a:tblGrid>
              <a:tr h="440055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Service</a:t>
                      </a:r>
                    </a:p>
                  </a:txBody>
                  <a:tcPr marL="73152" marR="54864" marT="36576" marB="36576">
                    <a:solidFill>
                      <a:srgbClr val="0A19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Current International</a:t>
                      </a:r>
                    </a:p>
                  </a:txBody>
                  <a:tcPr marL="73152" marR="54864" marT="36576" marB="36576">
                    <a:solidFill>
                      <a:srgbClr val="0A19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Potential next band*</a:t>
                      </a:r>
                    </a:p>
                  </a:txBody>
                  <a:tcPr marL="73152" marR="54864" marT="36576" marB="36576">
                    <a:solidFill>
                      <a:srgbClr val="0A1930"/>
                    </a:solidFill>
                  </a:tcPr>
                </a:tc>
              </a:tr>
              <a:tr h="440055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C1930"/>
                          </a:solidFill>
                          <a:latin typeface="Aptos"/>
                        </a:rPr>
                        <a:t>Landing Page</a:t>
                      </a:r>
                    </a:p>
                  </a:txBody>
                  <a:tcPr marL="73152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C1930"/>
                          </a:solidFill>
                          <a:latin typeface="Aptos"/>
                        </a:rPr>
                        <a:t>$199+</a:t>
                      </a:r>
                    </a:p>
                  </a:txBody>
                  <a:tcPr marL="73152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C1930"/>
                          </a:solidFill>
                          <a:latin typeface="Aptos"/>
                        </a:rPr>
                        <a:t>$299–$399+</a:t>
                      </a:r>
                    </a:p>
                  </a:txBody>
                  <a:tcPr marL="73152" marR="54864" marT="36576" marB="36576">
                    <a:solidFill>
                      <a:srgbClr val="FFFFFF"/>
                    </a:solidFill>
                  </a:tcPr>
                </a:tc>
              </a:tr>
              <a:tr h="440055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C1930"/>
                          </a:solidFill>
                          <a:latin typeface="Aptos"/>
                        </a:rPr>
                        <a:t>Business Website</a:t>
                      </a:r>
                    </a:p>
                  </a:txBody>
                  <a:tcPr marL="73152" marR="54864" marT="36576" marB="36576"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C1930"/>
                          </a:solidFill>
                          <a:latin typeface="Aptos"/>
                        </a:rPr>
                        <a:t>$449+</a:t>
                      </a:r>
                    </a:p>
                  </a:txBody>
                  <a:tcPr marL="73152" marR="54864" marT="36576" marB="36576"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C1930"/>
                          </a:solidFill>
                          <a:latin typeface="Aptos"/>
                        </a:rPr>
                        <a:t>$599–$799+</a:t>
                      </a:r>
                    </a:p>
                  </a:txBody>
                  <a:tcPr marL="73152" marR="54864" marT="36576" marB="36576">
                    <a:solidFill>
                      <a:srgbClr val="F3F6FB"/>
                    </a:solidFill>
                  </a:tcPr>
                </a:tc>
              </a:tr>
              <a:tr h="440055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C1930"/>
                          </a:solidFill>
                          <a:latin typeface="Aptos"/>
                        </a:rPr>
                        <a:t>CMS Pro Website</a:t>
                      </a:r>
                    </a:p>
                  </a:txBody>
                  <a:tcPr marL="73152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C1930"/>
                          </a:solidFill>
                          <a:latin typeface="Aptos"/>
                        </a:rPr>
                        <a:t>$749+</a:t>
                      </a:r>
                    </a:p>
                  </a:txBody>
                  <a:tcPr marL="73152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C1930"/>
                          </a:solidFill>
                          <a:latin typeface="Aptos"/>
                        </a:rPr>
                        <a:t>$999–$1,299+</a:t>
                      </a:r>
                    </a:p>
                  </a:txBody>
                  <a:tcPr marL="73152" marR="54864" marT="36576" marB="36576">
                    <a:solidFill>
                      <a:srgbClr val="FFFFFF"/>
                    </a:solidFill>
                  </a:tcPr>
                </a:tc>
              </a:tr>
              <a:tr h="440055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C1930"/>
                          </a:solidFill>
                          <a:latin typeface="Aptos"/>
                        </a:rPr>
                        <a:t>Advanced Platform</a:t>
                      </a:r>
                    </a:p>
                  </a:txBody>
                  <a:tcPr marL="73152" marR="54864" marT="36576" marB="36576"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C1930"/>
                          </a:solidFill>
                          <a:latin typeface="Aptos"/>
                        </a:rPr>
                        <a:t>$1,099+</a:t>
                      </a:r>
                    </a:p>
                  </a:txBody>
                  <a:tcPr marL="73152" marR="54864" marT="36576" marB="36576"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C1930"/>
                          </a:solidFill>
                          <a:latin typeface="Aptos"/>
                        </a:rPr>
                        <a:t>$1,499–$1,999+</a:t>
                      </a:r>
                    </a:p>
                  </a:txBody>
                  <a:tcPr marL="73152" marR="54864" marT="36576" marB="36576">
                    <a:solidFill>
                      <a:srgbClr val="F3F6FB"/>
                    </a:solidFill>
                  </a:tcPr>
                </a:tc>
              </a:tr>
              <a:tr h="440055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C1930"/>
                          </a:solidFill>
                          <a:latin typeface="Aptos"/>
                        </a:rPr>
                        <a:t>E-commerce</a:t>
                      </a:r>
                    </a:p>
                  </a:txBody>
                  <a:tcPr marL="73152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C1930"/>
                          </a:solidFill>
                          <a:latin typeface="Aptos"/>
                        </a:rPr>
                        <a:t>$999+</a:t>
                      </a:r>
                    </a:p>
                  </a:txBody>
                  <a:tcPr marL="73152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C1930"/>
                          </a:solidFill>
                          <a:latin typeface="Aptos"/>
                        </a:rPr>
                        <a:t>$1,499–$1,999+</a:t>
                      </a:r>
                    </a:p>
                  </a:txBody>
                  <a:tcPr marL="73152" marR="54864" marT="36576" marB="36576">
                    <a:solidFill>
                      <a:srgbClr val="FFFFFF"/>
                    </a:solidFill>
                  </a:tcPr>
                </a:tc>
              </a:tr>
              <a:tr h="440055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C1930"/>
                          </a:solidFill>
                          <a:latin typeface="Aptos"/>
                        </a:rPr>
                        <a:t>Custom Web App</a:t>
                      </a:r>
                    </a:p>
                  </a:txBody>
                  <a:tcPr marL="73152" marR="54864" marT="36576" marB="36576"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C1930"/>
                          </a:solidFill>
                          <a:latin typeface="Aptos"/>
                        </a:rPr>
                        <a:t>$1,499+</a:t>
                      </a:r>
                    </a:p>
                  </a:txBody>
                  <a:tcPr marL="73152" marR="54864" marT="36576" marB="36576"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C1930"/>
                          </a:solidFill>
                          <a:latin typeface="Aptos"/>
                        </a:rPr>
                        <a:t>$2,499–$3,499+</a:t>
                      </a:r>
                    </a:p>
                  </a:txBody>
                  <a:tcPr marL="73152" marR="54864" marT="36576" marB="36576">
                    <a:solidFill>
                      <a:srgbClr val="F3F6FB"/>
                    </a:solidFill>
                  </a:tcPr>
                </a:tc>
              </a:tr>
              <a:tr h="440055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C1930"/>
                          </a:solidFill>
                          <a:latin typeface="Aptos"/>
                        </a:rPr>
                        <a:t>Maintenance</a:t>
                      </a:r>
                    </a:p>
                  </a:txBody>
                  <a:tcPr marL="73152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C1930"/>
                          </a:solidFill>
                          <a:latin typeface="Aptos"/>
                        </a:rPr>
                        <a:t>$99+/mo</a:t>
                      </a:r>
                    </a:p>
                  </a:txBody>
                  <a:tcPr marL="73152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C1930"/>
                          </a:solidFill>
                          <a:latin typeface="Aptos"/>
                        </a:rPr>
                        <a:t>$99–$199+/mo</a:t>
                      </a:r>
                    </a:p>
                  </a:txBody>
                  <a:tcPr marL="73152" marR="54864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22960" y="5897880"/>
            <a:ext cx="104241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26277"/>
                </a:solidFill>
                <a:latin typeface="Aptos"/>
              </a:rPr>
              <a:t>*Strategic recommendation, not a market quote. Consider after several strong paid international projects, testimonials and repeatable delivery evidence.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446520"/>
            <a:ext cx="5943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8291A5"/>
                </a:solidFill>
                <a:latin typeface="Aptos"/>
              </a:rPr>
              <a:t>PSDigiLabs • 2026 Market Pricing Comparative Study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28232"/>
            <a:ext cx="228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8291A5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502920"/>
            <a:ext cx="5303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457FF"/>
                </a:solidFill>
                <a:latin typeface="Aptos"/>
              </a:rPr>
              <a:t>COMMERCIAL SAFEGUARDS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68680"/>
            <a:ext cx="10789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>
                <a:solidFill>
                  <a:srgbClr val="0C1930"/>
                </a:solidFill>
                <a:latin typeface="Aptos"/>
              </a:rPr>
              <a:t>Competitive starting prices need disciplined scoping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240280"/>
            <a:ext cx="34747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441448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C1930"/>
                </a:solidFill>
                <a:latin typeface="Aptos"/>
              </a:rPr>
              <a:t>DEFINE THE BASE SCOPE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898648"/>
            <a:ext cx="3017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26277"/>
                </a:solidFill>
                <a:latin typeface="Aptos"/>
              </a:rPr>
              <a:t>Pages, roles, integrations, content, design rounds and deployment.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07992" y="2240280"/>
            <a:ext cx="34747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36592" y="2441448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C1930"/>
                </a:solidFill>
                <a:latin typeface="Aptos"/>
              </a:rPr>
              <a:t>PRICE ADD-ONS SEPARATELY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36592" y="2898648"/>
            <a:ext cx="3017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26277"/>
                </a:solidFill>
                <a:latin typeface="Aptos"/>
              </a:rPr>
              <a:t>Extra integrations, data migration, copywriting, advanced SEO, complex automation.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30183" y="2240280"/>
            <a:ext cx="34747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58784" y="2441448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C1930"/>
                </a:solidFill>
                <a:latin typeface="Aptos"/>
              </a:rPr>
              <a:t>LIMIT REVISION ROUNDS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58784" y="2898648"/>
            <a:ext cx="3017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26277"/>
                </a:solidFill>
                <a:latin typeface="Aptos"/>
              </a:rPr>
              <a:t>Prevent open-ended design and content cycles.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840480"/>
            <a:ext cx="34747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041648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C1930"/>
                </a:solidFill>
                <a:latin typeface="Aptos"/>
              </a:rPr>
              <a:t>USE MILESTONES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498848"/>
            <a:ext cx="3017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26277"/>
                </a:solidFill>
                <a:latin typeface="Aptos"/>
              </a:rPr>
              <a:t>Deposit → design/architecture → build → UAT → launch.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07992" y="3840480"/>
            <a:ext cx="34747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36592" y="4041648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C1930"/>
                </a:solidFill>
                <a:latin typeface="Aptos"/>
              </a:rPr>
              <a:t>SEPARATE SUPPORT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36592" y="4498848"/>
            <a:ext cx="3017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26277"/>
                </a:solidFill>
                <a:latin typeface="Aptos"/>
              </a:rPr>
              <a:t>Clarify warranty/fix period versus ongoing maintenance.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330183" y="3840480"/>
            <a:ext cx="34747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58784" y="4041648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C1930"/>
                </a:solidFill>
                <a:latin typeface="Aptos"/>
              </a:rPr>
              <a:t>REPRICE COMPLEXITY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58784" y="4498848"/>
            <a:ext cx="3017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26277"/>
                </a:solidFill>
                <a:latin typeface="Aptos"/>
              </a:rPr>
              <a:t>A “starting from” price is not a fixed quote for every project.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6446520"/>
            <a:ext cx="5943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8291A5"/>
                </a:solidFill>
                <a:latin typeface="Aptos"/>
              </a:rPr>
              <a:t>PSDigiLabs • 2026 Market Pricing Comparative Study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75720" y="6428232"/>
            <a:ext cx="228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8291A5"/>
                </a:solidFill>
                <a:latin typeface="Apto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502920"/>
            <a:ext cx="5303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457FF"/>
                </a:solidFill>
                <a:latin typeface="Aptos"/>
              </a:rPr>
              <a:t>METHODOLOGY &amp; 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68680"/>
            <a:ext cx="10789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>
                <a:solidFill>
                  <a:srgbClr val="0C1930"/>
                </a:solidFill>
                <a:latin typeface="Aptos"/>
              </a:rPr>
              <a:t>Indicative planning ranges — not fixed industry tariffs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4884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457FF"/>
                </a:solidFill>
                <a:latin typeface="Aptos"/>
              </a:rPr>
              <a:t>Method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14600"/>
            <a:ext cx="1060704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26277"/>
                </a:solidFill>
                <a:latin typeface="Aptos"/>
              </a:rPr>
              <a:t>PSDigiLabs published starting prices were compared with publicly published 2026 planning ranges from web-development providers and market guides. Categories are normalized only at a high level; actual scope, provider type, location, design depth, integrations, content, compliance and support can change quotes materially.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703320"/>
            <a:ext cx="102412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0C1930"/>
                </a:solidFill>
                <a:latin typeface="Aptos"/>
              </a:rPr>
              <a:t>• USA — Jafen Media; Webfoundr; Pinetrix; GoodFirms (2026)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4087368"/>
            <a:ext cx="102412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0C1930"/>
                </a:solidFill>
                <a:latin typeface="Aptos"/>
              </a:rPr>
              <a:t>• UK — ICE WIND; JW Digital; WebKatie; Digital Otter (2026)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4471416"/>
            <a:ext cx="102412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0C1930"/>
                </a:solidFill>
                <a:latin typeface="Aptos"/>
              </a:rPr>
              <a:t>• Canada — WebLaunch; StillAwake Media; Software Development Ontario (2026)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855464"/>
            <a:ext cx="102412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0C1930"/>
                </a:solidFill>
                <a:latin typeface="Aptos"/>
              </a:rPr>
              <a:t>• Australia — Loudachris; IntraCode; Digital Oort; Consulting Cadets (2026)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5239512"/>
            <a:ext cx="102412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0C1930"/>
                </a:solidFill>
                <a:latin typeface="Aptos"/>
              </a:rPr>
              <a:t>• India — indicative market ranges used in the original PSDigiLabs 2026 India comparative study.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806440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C1930"/>
                </a:solidFill>
                <a:latin typeface="Aptos"/>
              </a:rPr>
              <a:t>Important: This presentation is a comparative marketing/strategy study, not a promise that two projects with the same label have equivalent scope.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446520"/>
            <a:ext cx="5943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8291A5"/>
                </a:solidFill>
                <a:latin typeface="Aptos"/>
              </a:rPr>
              <a:t>PSDigiLabs • 2026 Market Pricing Comparative Study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75720" y="6428232"/>
            <a:ext cx="228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8291A5"/>
                </a:solidFill>
                <a:latin typeface="Aptos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A1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7399FF"/>
                </a:solidFill>
                <a:latin typeface="Aptos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24128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ptos"/>
              </a:rPr>
              <a:t>Competitive in India.
Highly cost-efficient internationally.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2926080"/>
            <a:ext cx="99669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CDD7E6"/>
                </a:solidFill>
                <a:latin typeface="Aptos"/>
              </a:rPr>
              <a:t>PSDigiLabs can use its current pricing as a market-entry advantage while protecting quality through clear scope, disciplined delivery and transparent add-on pricing.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4709160"/>
            <a:ext cx="7772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7399FF"/>
                </a:solidFill>
                <a:latin typeface="Aptos"/>
              </a:rPr>
              <a:t>VALUE • ENGINEERING • QUALITY • DELIVERY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576072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Aptos"/>
              </a:rPr>
              <a:t>www.psdigilabs.in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446520"/>
            <a:ext cx="5943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96A5B9"/>
                </a:solidFill>
                <a:latin typeface="Aptos"/>
              </a:rPr>
              <a:t>PSDigiLabs • 2026 Market Pricing Comparative Study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28232"/>
            <a:ext cx="228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96A5B9"/>
                </a:solidFill>
                <a:latin typeface="Aptos"/>
              </a:rPr>
              <a:t>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