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PSDigiLabs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Landing</c:v>
                </c:pt>
                <c:pt idx="1">
                  <c:v>Business</c:v>
                </c:pt>
                <c:pt idx="2">
                  <c:v>CMS Pro</c:v>
                </c:pt>
                <c:pt idx="3">
                  <c:v>Advanced</c:v>
                </c:pt>
                <c:pt idx="4">
                  <c:v>E-commerce</c:v>
                </c:pt>
                <c:pt idx="5">
                  <c:v>Custom App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18</c:v>
                </c:pt>
                <c:pt idx="2">
                  <c:v>30</c:v>
                </c:pt>
                <c:pt idx="3">
                  <c:v>45</c:v>
                </c:pt>
                <c:pt idx="4">
                  <c:v>40</c:v>
                </c:pt>
                <c:pt idx="5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low end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Landing</c:v>
                </c:pt>
                <c:pt idx="1">
                  <c:v>Business</c:v>
                </c:pt>
                <c:pt idx="2">
                  <c:v>CMS Pro</c:v>
                </c:pt>
                <c:pt idx="3">
                  <c:v>Advanced</c:v>
                </c:pt>
                <c:pt idx="4">
                  <c:v>E-commerce</c:v>
                </c:pt>
                <c:pt idx="5">
                  <c:v>Custom App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</c:v>
                </c:pt>
                <c:pt idx="1">
                  <c:v>25</c:v>
                </c:pt>
                <c:pt idx="2">
                  <c:v>35</c:v>
                </c:pt>
                <c:pt idx="3">
                  <c:v>80</c:v>
                </c:pt>
                <c:pt idx="4">
                  <c:v>40</c:v>
                </c:pt>
                <c:pt idx="5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₹ thousands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1AAFF"/>
                </a:solidFill>
              </a:defRPr>
            </a:pPr>
            <a:r>
              <a:t>PSDIGILABS • INDIA •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070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Pricing vs. the 2026</a:t>
            </a:r>
            <a:br/>
            <a:r>
              <a:t>Indian Web Development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42900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D7DEEB"/>
                </a:solidFill>
              </a:defRPr>
            </a:pPr>
            <a:r>
              <a:t>Comparative study of PSDigiLabs' current launch-stage pricing, market positioning, value proposition and future pricing path.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92040"/>
            <a:ext cx="3840480" cy="594360"/>
          </a:xfrm>
          <a:prstGeom prst="roundRect">
            <a:avLst/>
          </a:prstGeom>
          <a:solidFill>
            <a:srgbClr val="2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Agency-style engineering without agency overhead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EC8D7"/>
                </a:solidFill>
              </a:defRPr>
            </a:pPr>
            <a:r>
              <a:t>PSDigiLabs • 2026 Pricing Comparative Study   |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C1930"/>
                </a:solidFill>
                <a:latin typeface="Aptos Display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4B5563"/>
                </a:solidFill>
                <a:latin typeface="Aptos"/>
              </a:defRPr>
            </a:pPr>
            <a:r>
              <a:t>What the comparison says about PSDigiLabs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PSDigiLabs is positioned at the low-to-competitive end of the Indian market across its core website packages.</a:t>
            </a:r>
          </a:p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The largest pricing gap appears in Advanced Business Platforms and Custom Web Applications.</a:t>
            </a:r>
          </a:p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Landing-page and e-commerce entry pricing is closer to the bottom of normal market ranges rather than radically discounted.</a:t>
            </a:r>
          </a:p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The current pricing is appropriate as launch-stage client-acquisition pricing, provided scope is tightly controlled.</a:t>
            </a:r>
          </a:p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The brand should compete on value and engineering capability—not on being the cheapest provider.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88291"/>
                </a:solidFill>
              </a:defRPr>
            </a:pPr>
            <a:r>
              <a:t>PSDigiLabs • 2026 Pricing Comparative Study   |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C1930"/>
                </a:solidFill>
                <a:latin typeface="Aptos Display"/>
              </a:defRPr>
            </a:pPr>
            <a:r>
              <a:t>Full Pricing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4B5563"/>
                </a:solidFill>
                <a:latin typeface="Aptos"/>
              </a:defRPr>
            </a:pPr>
            <a:r>
              <a:t>Current PSDigiLabs starting prices versus indicative 2026 Indian market ranges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54480"/>
          <a:ext cx="111556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057400"/>
                <a:gridCol w="3291840"/>
                <a:gridCol w="2743200"/>
              </a:tblGrid>
              <a:tr h="554355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Service</a:t>
                      </a:r>
                    </a:p>
                  </a:txBody>
                  <a:tcPr marL="73152" marR="73152">
                    <a:solidFill>
                      <a:srgbClr val="0C19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PSDigiLabs</a:t>
                      </a:r>
                    </a:p>
                  </a:txBody>
                  <a:tcPr marL="73152" marR="73152">
                    <a:solidFill>
                      <a:srgbClr val="0C19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Indicative Market</a:t>
                      </a:r>
                    </a:p>
                  </a:txBody>
                  <a:tcPr marL="73152" marR="73152">
                    <a:solidFill>
                      <a:srgbClr val="0C19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Position</a:t>
                      </a:r>
                    </a:p>
                  </a:txBody>
                  <a:tcPr marL="73152" marR="73152">
                    <a:solidFill>
                      <a:srgbClr val="0C1930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Landing Page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₹8,000+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₹8k–₹30k+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Low / competitive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Business Website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₹18,000+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₹25k–₹1L+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Below typical market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CMS Pro Website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₹30,000+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₹35k–₹1L+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Low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Advanced Business Platform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₹45,000+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₹80k–₹2L+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Very low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E-commerce Website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₹40,000+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₹40k–₹2L+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Bottom of normal range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Custom Web Application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₹60,000+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₹1L–₹10L+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Very low</a:t>
                      </a:r>
                    </a:p>
                  </a:txBody>
                  <a:tcPr marL="73152" marR="73152">
                    <a:solidFill>
                      <a:srgbClr val="EFF3F9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Maintenance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₹3,000+/month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Highly variable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C1930"/>
                          </a:solidFill>
                          <a:latin typeface="Aptos"/>
                        </a:defRPr>
                      </a:pPr>
                      <a:r>
                        <a:t>Competitive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88291"/>
                </a:solidFill>
              </a:defRPr>
            </a:pPr>
            <a:r>
              <a:t>PSDigiLabs • 2026 Pricing Comparative Study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C1930"/>
                </a:solidFill>
                <a:latin typeface="Aptos Display"/>
              </a:defRPr>
            </a:pPr>
            <a:r>
              <a:t>Where the Discount Is Strongest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4B5563"/>
                </a:solidFill>
                <a:latin typeface="Aptos"/>
              </a:defRPr>
            </a:pPr>
            <a:r>
              <a:t>Illustrative comparison using the low end of each stated market range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00200"/>
          <a:ext cx="667512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35240" y="1828800"/>
            <a:ext cx="3840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0C1930"/>
                </a:solidFill>
                <a:latin typeface="Aptos"/>
              </a:defRPr>
            </a:pPr>
            <a:r>
              <a:t>• Business Website: ~28% below the indicative low end.</a:t>
            </a:r>
          </a:p>
          <a:p>
            <a:pPr>
              <a:spcAft>
                <a:spcPts val="1200"/>
              </a:spcAft>
              <a:defRPr sz="1600">
                <a:solidFill>
                  <a:srgbClr val="0C1930"/>
                </a:solidFill>
                <a:latin typeface="Aptos"/>
              </a:defRPr>
            </a:pPr>
            <a:r>
              <a:t>• Advanced Business Platform: ~44% below the indicative low end.</a:t>
            </a:r>
          </a:p>
          <a:p>
            <a:pPr>
              <a:spcAft>
                <a:spcPts val="1200"/>
              </a:spcAft>
              <a:defRPr sz="1600">
                <a:solidFill>
                  <a:srgbClr val="0C1930"/>
                </a:solidFill>
                <a:latin typeface="Aptos"/>
              </a:defRPr>
            </a:pPr>
            <a:r>
              <a:t>• Custom Web Application: ~40% below the indicative low end.</a:t>
            </a:r>
          </a:p>
          <a:p>
            <a:pPr>
              <a:spcAft>
                <a:spcPts val="1200"/>
              </a:spcAft>
              <a:defRPr sz="1600">
                <a:solidFill>
                  <a:srgbClr val="0C1930"/>
                </a:solidFill>
                <a:latin typeface="Aptos"/>
              </a:defRPr>
            </a:pPr>
            <a:r>
              <a:t>• Landing and e-commerce start at roughly the market floor.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88291"/>
                </a:solidFill>
              </a:defRPr>
            </a:pPr>
            <a:r>
              <a:t>PSDigiLabs • 2026 Pricing Comparative Study   |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The Biggest Value Gap: Custom Web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D7DEEB"/>
                </a:solidFill>
                <a:latin typeface="Aptos"/>
              </a:defRPr>
            </a:pPr>
            <a:r>
              <a:t>₹60,000+ is aggressive when the advertised scope includes multiple engineering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2834640" cy="822960"/>
          </a:xfrm>
          <a:prstGeom prst="roundRect">
            <a:avLst/>
          </a:prstGeom>
          <a:solidFill>
            <a:srgbClr val="182844"/>
          </a:solidFill>
          <a:ln>
            <a:solidFill>
              <a:srgbClr val="415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Custom architecture +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1828800"/>
            <a:ext cx="2834640" cy="822960"/>
          </a:xfrm>
          <a:prstGeom prst="roundRect">
            <a:avLst/>
          </a:prstGeom>
          <a:solidFill>
            <a:srgbClr val="182844"/>
          </a:solidFill>
          <a:ln>
            <a:solidFill>
              <a:srgbClr val="415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Authentication and user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1828800"/>
            <a:ext cx="2834640" cy="822960"/>
          </a:xfrm>
          <a:prstGeom prst="roundRect">
            <a:avLst/>
          </a:prstGeom>
          <a:solidFill>
            <a:srgbClr val="182844"/>
          </a:solidFill>
          <a:ln>
            <a:solidFill>
              <a:srgbClr val="415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Admin system and dashboards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63240"/>
            <a:ext cx="2834640" cy="822960"/>
          </a:xfrm>
          <a:prstGeom prst="roundRect">
            <a:avLst/>
          </a:prstGeom>
          <a:solidFill>
            <a:srgbClr val="182844"/>
          </a:solidFill>
          <a:ln>
            <a:solidFill>
              <a:srgbClr val="415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User/business workflows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3063240"/>
            <a:ext cx="2834640" cy="822960"/>
          </a:xfrm>
          <a:prstGeom prst="roundRect">
            <a:avLst/>
          </a:prstGeom>
          <a:solidFill>
            <a:srgbClr val="182844"/>
          </a:solidFill>
          <a:ln>
            <a:solidFill>
              <a:srgbClr val="415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APIs and integrations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3063240"/>
            <a:ext cx="2834640" cy="822960"/>
          </a:xfrm>
          <a:prstGeom prst="roundRect">
            <a:avLst/>
          </a:prstGeom>
          <a:solidFill>
            <a:srgbClr val="182844"/>
          </a:solidFill>
          <a:ln>
            <a:solidFill>
              <a:srgbClr val="415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Automation and business-specific functionality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424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A4B8FF"/>
                </a:solidFill>
              </a:defRPr>
            </a:pPr>
            <a:r>
              <a:t>Indicative market reference: roughly ₹1L–₹10L+ depending on complexity and whether the provider is a freelancer, studio or agency.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EC8D7"/>
                </a:solidFill>
              </a:defRPr>
            </a:pPr>
            <a:r>
              <a:t>PSDigiLabs • 2026 Pricing Comparative Study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C1930"/>
                </a:solidFill>
                <a:latin typeface="Aptos Display"/>
              </a:defRPr>
            </a:pPr>
            <a:r>
              <a:t>Why Low Pricing Can Work Right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4B5563"/>
                </a:solidFill>
                <a:latin typeface="Aptos"/>
              </a:defRPr>
            </a:pPr>
            <a:r>
              <a:t>The current numbers make sense as a deliberate launch-stage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PSDigiLabs is still building its paid-client base and commercial testimonials.</a:t>
            </a:r>
          </a:p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Lower entry prices reduce purchase friction for early clients and help generate case studies.</a:t>
            </a:r>
          </a:p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The portfolio already demonstrates modern web development, database/CMS work, analytics, QA and workflow capability.</a:t>
            </a:r>
          </a:p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Using “starting from” pricing allows complex requirements to be quoted above the entry point.</a:t>
            </a:r>
          </a:p>
          <a:p>
            <a:pPr>
              <a:spcAft>
                <a:spcPts val="1200"/>
              </a:spcAft>
              <a:defRPr sz="1800">
                <a:solidFill>
                  <a:srgbClr val="0C1930"/>
                </a:solidFill>
                <a:latin typeface="Aptos"/>
              </a:defRPr>
            </a:pPr>
            <a:r>
              <a:t>• The strategy works only if revisions, integrations, content volume and post-launch support are explicitly scoped.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88291"/>
                </a:solidFill>
              </a:defRPr>
            </a:pPr>
            <a:r>
              <a:t>PSDigiLabs • 2026 Pricing Comparative Study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C1930"/>
                </a:solidFill>
                <a:latin typeface="Aptos Display"/>
              </a:defRPr>
            </a:pPr>
            <a:r>
              <a:t>Positioning: Value, Not Cheapness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4B5563"/>
                </a:solidFill>
                <a:latin typeface="Aptos"/>
              </a:defRPr>
            </a:pPr>
            <a:r>
              <a:t>How PSDigiLabs should communicate the pricing advantage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3566160"/>
          </a:xfrm>
          <a:prstGeom prst="roundRect">
            <a:avLst/>
          </a:prstGeom>
          <a:solidFill>
            <a:srgbClr val="EEF2F7"/>
          </a:solidFill>
          <a:ln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4B5563"/>
                </a:solidFill>
              </a:defRPr>
            </a:pPr>
            <a:r>
              <a:t>AVOID</a:t>
            </a:r>
          </a:p>
          <a:p>
            <a:pPr>
              <a:spcBef>
                <a:spcPts val="1400"/>
              </a:spcBef>
              <a:defRPr sz="1600">
                <a:solidFill>
                  <a:srgbClr val="0C1930"/>
                </a:solidFill>
              </a:defRPr>
            </a:pPr>
            <a:r>
              <a:t>✕  “Cheap website development”</a:t>
            </a:r>
          </a:p>
          <a:p>
            <a:pPr>
              <a:spcBef>
                <a:spcPts val="1400"/>
              </a:spcBef>
              <a:defRPr sz="1600">
                <a:solidFill>
                  <a:srgbClr val="0C1930"/>
                </a:solidFill>
              </a:defRPr>
            </a:pPr>
            <a:r>
              <a:t>✕  Competing only on lowest quote</a:t>
            </a:r>
          </a:p>
          <a:p>
            <a:pPr>
              <a:spcBef>
                <a:spcPts val="1400"/>
              </a:spcBef>
              <a:defRPr sz="1600">
                <a:solidFill>
                  <a:srgbClr val="0C1930"/>
                </a:solidFill>
              </a:defRPr>
            </a:pPr>
            <a:r>
              <a:t>✕  Unlimited revisions at package price</a:t>
            </a:r>
          </a:p>
          <a:p>
            <a:pPr>
              <a:spcBef>
                <a:spcPts val="1400"/>
              </a:spcBef>
              <a:defRPr sz="1600">
                <a:solidFill>
                  <a:srgbClr val="0C1930"/>
                </a:solidFill>
              </a:defRPr>
            </a:pPr>
            <a:r>
              <a:t>✕  Underselling custom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45920"/>
            <a:ext cx="5212080" cy="3566160"/>
          </a:xfrm>
          <a:prstGeom prst="roundRect">
            <a:avLst/>
          </a:prstGeom>
          <a:solidFill>
            <a:srgbClr val="E8EEFF"/>
          </a:solidFill>
          <a:ln>
            <a:solidFill>
              <a:srgbClr val="A0B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2457FF"/>
                </a:solidFill>
              </a:defRPr>
            </a:pPr>
            <a:r>
              <a:t>EMPHASIZE</a:t>
            </a:r>
          </a:p>
          <a:p>
            <a:pPr>
              <a:spcBef>
                <a:spcPts val="1400"/>
              </a:spcBef>
              <a:defRPr sz="1600">
                <a:solidFill>
                  <a:srgbClr val="0C1930"/>
                </a:solidFill>
              </a:defRPr>
            </a:pPr>
            <a:r>
              <a:t>✓  Launch-stage / portfolio-building pricing</a:t>
            </a:r>
          </a:p>
          <a:p>
            <a:pPr>
              <a:spcBef>
                <a:spcPts val="1400"/>
              </a:spcBef>
              <a:defRPr sz="1600">
                <a:solidFill>
                  <a:srgbClr val="0C1930"/>
                </a:solidFill>
              </a:defRPr>
            </a:pPr>
            <a:r>
              <a:t>✓  Modern engineering without agency overhead</a:t>
            </a:r>
          </a:p>
          <a:p>
            <a:pPr>
              <a:spcBef>
                <a:spcPts val="1400"/>
              </a:spcBef>
              <a:defRPr sz="1600">
                <a:solidFill>
                  <a:srgbClr val="0C1930"/>
                </a:solidFill>
              </a:defRPr>
            </a:pPr>
            <a:r>
              <a:t>✓  Transparent starting prices</a:t>
            </a:r>
          </a:p>
          <a:p>
            <a:pPr>
              <a:spcBef>
                <a:spcPts val="1400"/>
              </a:spcBef>
              <a:defRPr sz="1600">
                <a:solidFill>
                  <a:srgbClr val="0C1930"/>
                </a:solidFill>
              </a:defRPr>
            </a:pPr>
            <a:r>
              <a:t>✓  Scope-based quotation for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88291"/>
                </a:solidFill>
              </a:defRPr>
            </a:pPr>
            <a:r>
              <a:t>PSDigiLabs • 2026 Pricing Comparative Study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C1930"/>
                </a:solidFill>
                <a:latin typeface="Aptos Display"/>
              </a:defRPr>
            </a:pPr>
            <a:r>
              <a:t>Recommended Future Pricing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4B5563"/>
                </a:solidFill>
                <a:latin typeface="Aptos"/>
              </a:defRPr>
            </a:pPr>
            <a:r>
              <a:t>Consider moving upward after roughly 5–8 strong paid projects/testimonials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25880" y="1645920"/>
          <a:ext cx="95097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468880"/>
                <a:gridCol w="3108960"/>
              </a:tblGrid>
              <a:tr h="57476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C19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Current</a:t>
                      </a:r>
                    </a:p>
                  </a:txBody>
                  <a:tcPr>
                    <a:solidFill>
                      <a:srgbClr val="0C19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Possible Next Starting Price</a:t>
                      </a:r>
                    </a:p>
                  </a:txBody>
                  <a:tcPr>
                    <a:solidFill>
                      <a:srgbClr val="0C1930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C1930"/>
                          </a:solidFill>
                        </a:defRPr>
                      </a:pPr>
                      <a:r>
                        <a:t>Landing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₹8k+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₹10k+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C1930"/>
                          </a:solidFill>
                        </a:defRPr>
                      </a:pPr>
                      <a:r>
                        <a:t>Business Website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₹18k+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₹25k+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C1930"/>
                          </a:solidFill>
                        </a:defRPr>
                      </a:pPr>
                      <a:r>
                        <a:t>CMS Pro Website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₹30k+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₹40k+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C1930"/>
                          </a:solidFill>
                        </a:defRPr>
                      </a:pPr>
                      <a:r>
                        <a:t>Advanced Platform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₹45k+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₹60k+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C1930"/>
                          </a:solidFill>
                        </a:defRPr>
                      </a:pPr>
                      <a:r>
                        <a:t>E-commerce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₹40k+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₹60k+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C1930"/>
                          </a:solidFill>
                        </a:defRPr>
                      </a:pPr>
                      <a:r>
                        <a:t>Custom Web Application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₹60k+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C1930"/>
                          </a:solidFill>
                        </a:defRPr>
                      </a:pPr>
                      <a:r>
                        <a:t>₹1L+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88291"/>
                </a:solidFill>
              </a:defRPr>
            </a:pPr>
            <a:r>
              <a:t>PSDigiLabs • 2026 Pricing Comparative Study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C1930"/>
                </a:solidFill>
                <a:latin typeface="Aptos Display"/>
              </a:defRPr>
            </a:pPr>
            <a:r>
              <a:t>Commercial Safeguards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4B5563"/>
                </a:solidFill>
                <a:latin typeface="Aptos"/>
              </a:defRPr>
            </a:pPr>
            <a:r>
              <a:t>Low starting prices must not become unlimited-scope fixed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0C1930"/>
                </a:solidFill>
                <a:latin typeface="Aptos"/>
              </a:defRPr>
            </a:pPr>
            <a:r>
              <a:t>• Define exact page count, features, integrations and content responsibilities in every proposal.</a:t>
            </a:r>
          </a:p>
          <a:p>
            <a:pPr>
              <a:spcAft>
                <a:spcPts val="1200"/>
              </a:spcAft>
              <a:defRPr sz="1700">
                <a:solidFill>
                  <a:srgbClr val="0C1930"/>
                </a:solidFill>
                <a:latin typeface="Aptos"/>
              </a:defRPr>
            </a:pPr>
            <a:r>
              <a:t>• Set a clear revision allowance and charge for additional change requests.</a:t>
            </a:r>
          </a:p>
          <a:p>
            <a:pPr>
              <a:spcAft>
                <a:spcPts val="1200"/>
              </a:spcAft>
              <a:defRPr sz="1700">
                <a:solidFill>
                  <a:srgbClr val="0C1930"/>
                </a:solidFill>
                <a:latin typeface="Aptos"/>
              </a:defRPr>
            </a:pPr>
            <a:r>
              <a:t>• Separate third-party costs: hosting, domains, paid APIs, SMS/WhatsApp, email services and premium assets.</a:t>
            </a:r>
          </a:p>
          <a:p>
            <a:pPr>
              <a:spcAft>
                <a:spcPts val="1200"/>
              </a:spcAft>
              <a:defRPr sz="1700">
                <a:solidFill>
                  <a:srgbClr val="0C1930"/>
                </a:solidFill>
                <a:latin typeface="Aptos"/>
              </a:defRPr>
            </a:pPr>
            <a:r>
              <a:t>• Use milestone payments rather than waiting for 100% payment after delivery.</a:t>
            </a:r>
          </a:p>
          <a:p>
            <a:pPr>
              <a:spcAft>
                <a:spcPts val="1200"/>
              </a:spcAft>
              <a:defRPr sz="1700">
                <a:solidFill>
                  <a:srgbClr val="0C1930"/>
                </a:solidFill>
                <a:latin typeface="Aptos"/>
              </a:defRPr>
            </a:pPr>
            <a:r>
              <a:t>• Quote maintenance, new features and ongoing analytics/SEO work separately.</a:t>
            </a:r>
          </a:p>
          <a:p>
            <a:pPr>
              <a:spcAft>
                <a:spcPts val="1200"/>
              </a:spcAft>
              <a:defRPr sz="1700">
                <a:solidFill>
                  <a:srgbClr val="0C1930"/>
                </a:solidFill>
                <a:latin typeface="Aptos"/>
              </a:defRPr>
            </a:pPr>
            <a:r>
              <a:t>• For custom apps, price discovery and requirement expansion before committing to a final fixed 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788291"/>
                </a:solidFill>
              </a:defRPr>
            </a:pPr>
            <a:r>
              <a:t>PSDigiLabs • 2026 Pricing Comparative Study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9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1018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D7DEEB"/>
                </a:solidFill>
                <a:latin typeface="Aptos"/>
              </a:defRPr>
            </a:pPr>
            <a:r>
              <a:t>PSDigiLabs has room to win on value now—and room to raise prices as proof grows.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Current pricing is best treated as</a:t>
            </a:r>
            <a:br/>
            <a:r>
              <a:t>strategic introductory pricing—not permanent pricing.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794760"/>
            <a:ext cx="969264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BECDEB"/>
                </a:solidFill>
              </a:defRPr>
            </a:pPr>
            <a:r>
              <a:t>Win early projects → collect testimonials and measurable outcomes → tighten scope → increase starting prices → move from portfolio-building to premium value-based quoting.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5166360"/>
            <a:ext cx="5806440" cy="640080"/>
          </a:xfrm>
          <a:prstGeom prst="roundRect">
            <a:avLst/>
          </a:prstGeom>
          <a:solidFill>
            <a:srgbClr val="24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BUILD • TEST • AUTOMATE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EC8D7"/>
                </a:solidFill>
              </a:defRPr>
            </a:pPr>
            <a:r>
              <a:t>PSDigiLabs • 2026 Pricing Comparative Study   | 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